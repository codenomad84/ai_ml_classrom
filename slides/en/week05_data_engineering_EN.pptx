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Section 0 of the lab live. Point at run 3: zeros where the wall is beyond 12 m, a dust echo, accelerometer spikes, a frozen gyroscope. Write the closing question on the board and keep it there until the last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Expanded from the instructor's deck (slides 2 to 8, adapted by the instructor from the Faradars blog): its slide 3 says classical models "cannot be applied directly to raw data such as CSV files" and need a preprocessing step. Decision trees (deck slides 9 to 11) come back in Week 7; note for later that trees do not need feature scaling.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which number they would have put in a paper. Then reveal that two of the naive numbers are not even honest: the random split leaks (slide 18). Keep this table; we return to it on slide 21.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W3Schools "Pandas - Cleaning Data" lists four kinds of bad data: empty cells, wrong format, wrong data, duplicates. Sensor logs add two: sentinels (a number that means "no number") and frozen values. Exercise 1.1 counts the 25 duplicated rows with count_duplicate_keys.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LiDAR error classes follow the beam model of Thrun, Burgard and Fox, Probabilistic Robotics, Sec. 6.3: max-range readings, random measurements and short readings. The synthetic log injects each defect with a known count, so every cleaning step can be checked exactly.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imputer invents a wall 6 m away where there is none. The real information is "farther than 12 m": keep it as an indicator column or restrict the model to the sensor's range. In-class Problem 2 repeats the idea with a saturating temperature sensor.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Definitions from Little and Rubin, Ch. 1, as summarised by GeeksforGeeks "Handling Missing Values in Machine Learning". In the rover log, leading LiDAR zeros are MNAR and isolated zeros are MCAR; Assignment 2 Task 1 counts them separately (482 and 50).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GeeksforGeeks lists deletion, mean/median/mode imputation, forward/backward fill and interpolation. Imputers learn a number, so they are fitted on the training split (slide 16). MarkInvalid turns the sentinel into NaN first, so every remedy sees "unknown" rather than "0 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10 Hz and below 2.2 m/s, a 0.5 s gap stays within a few centimetres of the truth unless the rover starts braking inside the gap. FillGaps uses the time column as abscissa, so it also handles irregular sampling. Lab Worked Example 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Samuelson, JASA 63 (1968), for the population standard deviation; with the sample standard deviation the bound is (n − 1)/√n (Shiffler, 1988). GeeksforGeeks "Detect and Remove the Outliers using Python" teaches the z-score and IQR rules; this slide shows when the first one cannot work. Lab Exercise 3.1.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dust echo of 1.2 m while the wall is 8 m away is a valid range in absolute terms; only its neighbours show it is wrong. The Hampel step also nudges noisy samples by about 4 cm (range) and 0.3 m/s² (acceleration): small next to what it removes, but report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In-class Problem 1. On the vehicle a centred window costs 0.3 s of delay; a trailing window has none but reacts later. Ask: which would the braking controller prefer?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PerGroup refuses learned stages (a scaler per run would be a different model) and round-trips through the Week 3 JSON config. It is the Week 4 idea again: extend behaviour by wrapping, not by editing HampelFilter or FillGaps.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aerospace_ai.datasets.rover_cleaning_pipeline; the rover_range_forecast factory loader (Week 4 Factory) runs it and returns a Dataset whose groups are the run ids. The 649 dropped rows are mostly the MNAR start of each run: the model's scope is "wall within range".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4 showed unscaled k-NN losing to the mean baseline on fuel flow. Distance-based models (k-NN, SVM with RBF kernel, K-Means in Week 8) and gradient descent need scaling; trees do not (Week 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W3Schools "ML Scaling" introduces the z-score; GeeksforGeeks "Data Leakage" states the rule. Lab Exercise 5.1: training median 5.076 m vs 5.188 m from all rows. In-class Problem 4 shows the mildest form of leakage: a test value of 12 m looks like z = 1.61 instead of 2.12.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Causes rewritten from GeeksforGeeks "Data Leakage" (splitting incorrectly, preprocessing before the split, features unavailable at prediction time, pipeline errors). In-class Problem 3 hunts five leaks in five lines of code.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Had we tuned k on the random split, we would have reported 0.32 m and delivered 0.64 m. The linear model has four parameters and cannot memorise neighbours, so it barely notices. check_split reports shared rows, shared runs and the closest train/test distance against the horizon. Lab Exercise 6.1.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Blocked and grouped validation for autocorrelated data: Roberts et al., Ecography 40 (2017). Purging rows whose targets overlap the test period: Lopez de Prado (2018), Ch. 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Week 3 DataPipeline already separates fit and transform; Week 5 adds the discipline of where each call happens. The same order holds for every model in Blocks 1 and 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 to the opener: nothing in the model changed; only the data engineering did. Lab Section 7. The yaw rate has a weight close to zero: a weak feature, which is why median imputation is acceptable for its frozen segments.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Assignment 2 adds a frozen-sensor detector, a learned Tukey clipper and a leak-free prepare() on a log with seed 52. Expected numbers are in its README: 1919 clean rows, runs 13 to 16 as test, linear RMSE 0.109 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 to the opener question: between the CSV and the model sit an audit, stateless cleaning per run, a split by run, and learned stages fitted on training rows only.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011680"/>
            <a:ext cx="12191695" cy="21945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11277295" cy="1005840"/>
          </a:xfrm>
          <a:prstGeom prst="rect">
            <a:avLst/>
          </a:prstGeom>
          <a:noFill/>
        </p:spPr>
        <p:txBody>
          <a:bodyPr wrap="square">
            <a:spAutoFit/>
          </a:bodyPr>
          <a:lstStyle/>
          <a:p>
            <a:pPr algn="l">
              <a:spcAft>
                <a:spcPts val="1000"/>
              </a:spcAft>
            </a:pPr>
            <a:r>
              <a:rPr sz="4000" b="1" i="0" lang="en-US">
                <a:solidFill>
                  <a:srgbClr val="FFFFFF"/>
                </a:solidFill>
                <a:latin typeface="Calibri"/>
                <a:cs typeface="Calibri"/>
                <a:ea typeface="Calibri"/>
              </a:rPr>
              <a:t>Week 5: Data Engineering for Noisy Sensor Data</a:t>
            </a:r>
          </a:p>
        </p:txBody>
      </p:sp>
      <p:sp>
        <p:nvSpPr>
          <p:cNvPr id="4" name="TextBox 3"/>
          <p:cNvSpPr txBox="1"/>
          <p:nvPr/>
        </p:nvSpPr>
        <p:spPr>
          <a:xfrm>
            <a:off x="457200" y="3200400"/>
            <a:ext cx="11277295" cy="731520"/>
          </a:xfrm>
          <a:prstGeom prst="rect">
            <a:avLst/>
          </a:prstGeom>
          <a:noFill/>
        </p:spPr>
        <p:txBody>
          <a:bodyPr wrap="square">
            <a:spAutoFit/>
          </a:bodyPr>
          <a:lstStyle/>
          <a:p>
            <a:pPr algn="l">
              <a:spcAft>
                <a:spcPts val="1000"/>
              </a:spcAft>
            </a:pPr>
            <a:r>
              <a:rPr sz="2400" b="0" i="0" lang="en-US">
                <a:solidFill>
                  <a:srgbClr val="FFFFFF"/>
                </a:solidFill>
                <a:latin typeface="Calibri"/>
                <a:cs typeface="Calibri"/>
                <a:ea typeface="Calibri"/>
              </a:rPr>
              <a:t>Missing data, outliers, normalisation and splits without leakage</a:t>
            </a:r>
          </a:p>
        </p:txBody>
      </p:sp>
      <p:sp>
        <p:nvSpPr>
          <p:cNvPr id="5" name="TextBox 4"/>
          <p:cNvSpPr txBox="1"/>
          <p:nvPr/>
        </p:nvSpPr>
        <p:spPr>
          <a:xfrm>
            <a:off x="457200" y="4572000"/>
            <a:ext cx="11277295" cy="548640"/>
          </a:xfrm>
          <a:prstGeom prst="rect">
            <a:avLst/>
          </a:prstGeom>
          <a:noFill/>
        </p:spPr>
        <p:txBody>
          <a:bodyPr wrap="square">
            <a:spAutoFit/>
          </a:bodyPr>
          <a:lstStyle/>
          <a:p>
            <a:pPr algn="l">
              <a:spcAft>
                <a:spcPts val="1000"/>
              </a:spcAft>
            </a:pPr>
            <a:r>
              <a:rPr sz="2000" b="0" i="0" lang="en-US">
                <a:solidFill>
                  <a:srgbClr val="1F3A5F"/>
                </a:solidFill>
                <a:latin typeface="Calibri"/>
                <a:cs typeface="Calibri"/>
                <a:ea typeface="Calibri"/>
              </a:rPr>
              <a:t>AI for Aerospace &amp; Mechanical Engineering (PhD)</a:t>
            </a:r>
          </a:p>
        </p:txBody>
      </p:sp>
      <p:sp>
        <p:nvSpPr>
          <p:cNvPr id="6" name="TextBox 5"/>
          <p:cNvSpPr txBox="1"/>
          <p:nvPr/>
        </p:nvSpPr>
        <p:spPr>
          <a:xfrm>
            <a:off x="457200" y="5669280"/>
            <a:ext cx="11277295" cy="822960"/>
          </a:xfrm>
          <a:prstGeom prst="rect">
            <a:avLst/>
          </a:prstGeom>
          <a:noFill/>
        </p:spPr>
        <p:txBody>
          <a:bodyPr wrap="square">
            <a:spAutoFit/>
          </a:bodyPr>
          <a:lstStyle/>
          <a:p>
            <a:pPr algn="l">
              <a:spcAft>
                <a:spcPts val="1000"/>
              </a:spcAft>
            </a:pPr>
            <a:r>
              <a:rPr sz="1100" b="0" i="1" lang="en-US">
                <a:solidFill>
                  <a:srgbClr val="595959"/>
                </a:solidFill>
                <a:latin typeface="Calibri"/>
                <a:cs typeface="Calibri"/>
                <a:ea typeface="Calibri"/>
              </a:rPr>
              <a:t>Partly expanded from instructor notes: slides 2 and 3 expand the instructor's deck 'Machine Learning &amp; Decision Trees' (slides 2 to 8: AI, ML and DL; feature extraction; classical models need preprocessing; classification, clustering, regression). The rest is new content: missing-data mechanisms from Little and Rubin, Statistical Analysis with Missing Data (2019), Ch. 1; cleaning, imputation, outliers, scaling and leakage rewritten from W3Schools (Pandas - Cleaning Data, ML Scaling, ML Train/Test) and GeeksforGeeks (Handling Missing Values in Machine Learning, Detect and Remove the Outliers using Python, Data Leakage); LiDAR error types from Thrun, Burgard and Fox, Probabilistic Robotics (2005), Sec. 6.3; z-score bound from Samuelson, JASA 63 (1968); Hampel filter from Pearson (2002); blocked validation from Roberts et al., Ecography 40 (2017).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A braking controller that trusts a raw log</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Task: forecast the distance to the wall 1 s ahead (project module M3)</a:t>
            </a:r>
          </a:p>
          <a:p>
            <a:pPr algn="l">
              <a:spcAft>
                <a:spcPts val="1000"/>
              </a:spcAft>
            </a:pPr>
            <a:r>
              <a:rPr sz="2000" b="0" i="0" lang="en-US">
                <a:solidFill>
                  <a:srgbClr val="262626"/>
                </a:solidFill>
                <a:latin typeface="Calibri"/>
                <a:cs typeface="Calibri"/>
                <a:ea typeface="Calibri"/>
              </a:rPr>
              <a:t>• 16 test drives, 10 Hz: LiDAR range, wheel speed, acceleration, yaw rate</a:t>
            </a:r>
          </a:p>
          <a:p>
            <a:pPr algn="l">
              <a:spcAft>
                <a:spcPts val="1000"/>
              </a:spcAft>
            </a:pPr>
            <a:r>
              <a:rPr sz="2000" b="0" i="0" lang="en-US">
                <a:solidFill>
                  <a:srgbClr val="262626"/>
                </a:solidFill>
                <a:latin typeface="Calibri"/>
                <a:cs typeface="Calibri"/>
                <a:ea typeface="Calibri"/>
              </a:rPr>
              <a:t>• Naive pipeline: read CSV, shift, drop NaN, random split, fit</a:t>
            </a:r>
          </a:p>
          <a:p>
            <a:pPr algn="l">
              <a:spcAft>
                <a:spcPts val="1000"/>
              </a:spcAft>
            </a:pPr>
            <a:r>
              <a:rPr sz="2000" b="0" i="0" lang="en-US">
                <a:solidFill>
                  <a:srgbClr val="262626"/>
                </a:solidFill>
                <a:latin typeface="Calibri"/>
                <a:cs typeface="Calibri"/>
                <a:ea typeface="Calibri"/>
              </a:rPr>
              <a:t>• Linear model: 2.73 m error on a 1 m stopping distance</a:t>
            </a:r>
          </a:p>
          <a:p>
            <a:pPr algn="l">
              <a:spcAft>
                <a:spcPts val="1000"/>
              </a:spcAft>
            </a:pPr>
            <a:r>
              <a:rPr sz="2000" b="0" i="0" lang="en-US">
                <a:solidFill>
                  <a:srgbClr val="262626"/>
                </a:solidFill>
                <a:latin typeface="Calibri"/>
                <a:cs typeface="Calibri"/>
                <a:ea typeface="Calibri"/>
              </a:rPr>
              <a:t>• Q: what must happen between the CSV and the model?</a:t>
            </a:r>
          </a:p>
        </p:txBody>
      </p:sp>
      <p:pic>
        <p:nvPicPr>
          <p:cNvPr id="5" name="Picture 4" descr="fig_raw_vs_truth.png"/>
          <p:cNvPicPr>
            <a:picLocks noChangeAspect="1"/>
          </p:cNvPicPr>
          <p:nvPr/>
        </p:nvPicPr>
        <p:blipFill>
          <a:blip r:embed="rId2"/>
          <a:stretch>
            <a:fillRect/>
          </a:stretch>
        </p:blipFill>
        <p:spPr>
          <a:xfrm>
            <a:off x="6583680" y="1371600"/>
            <a:ext cx="5150815" cy="3765261"/>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Week 05 | Data engineering   |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Where data engineering sits in machine learning</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AI ⊃ ML ⊃ DL (instructor's deck, slide 2)</a:t>
            </a:r>
          </a:p>
          <a:p>
            <a:pPr algn="l">
              <a:spcAft>
                <a:spcPts val="1000"/>
              </a:spcAft>
            </a:pPr>
            <a:r>
              <a:rPr sz="2000" b="0" i="0" lang="en-US">
                <a:solidFill>
                  <a:srgbClr val="262626"/>
                </a:solidFill>
                <a:latin typeface="Calibri"/>
                <a:cs typeface="Calibri"/>
                <a:ea typeface="Calibri"/>
              </a:rPr>
              <a:t>• Classical ML (trees, SVM, naive Bayes, logistic regression) needs features, not raw files</a:t>
            </a:r>
          </a:p>
          <a:p>
            <a:pPr algn="l">
              <a:spcAft>
                <a:spcPts val="1000"/>
              </a:spcAft>
            </a:pPr>
            <a:r>
              <a:rPr sz="2000" b="0" i="0" lang="en-US">
                <a:solidFill>
                  <a:srgbClr val="262626"/>
                </a:solidFill>
                <a:latin typeface="Calibri"/>
                <a:cs typeface="Calibri"/>
                <a:ea typeface="Calibri"/>
              </a:rPr>
              <a:t>• Deep learning learns features, but still needs clean, honest data</a:t>
            </a:r>
          </a:p>
          <a:p>
            <a:pPr algn="l">
              <a:spcAft>
                <a:spcPts val="1000"/>
              </a:spcAft>
            </a:pPr>
            <a:r>
              <a:rPr sz="2000" b="0" i="0" lang="en-US">
                <a:solidFill>
                  <a:srgbClr val="262626"/>
                </a:solidFill>
                <a:latin typeface="Calibri"/>
                <a:cs typeface="Calibri"/>
                <a:ea typeface="Calibri"/>
              </a:rPr>
              <a:t>• This week: regression (continuous target), supervised (labels from the log)</a:t>
            </a:r>
          </a:p>
          <a:p>
            <a:pPr algn="l">
              <a:spcAft>
                <a:spcPts val="1000"/>
              </a:spcAft>
            </a:pPr>
            <a:r>
              <a:rPr sz="2000" b="0" i="0" lang="en-US">
                <a:solidFill>
                  <a:srgbClr val="262626"/>
                </a:solidFill>
                <a:latin typeface="Calibri"/>
                <a:cs typeface="Calibri"/>
                <a:ea typeface="Calibri"/>
              </a:rPr>
              <a:t>• Garbage in, garbage out applies to both</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Nested circles AI ⊃ ML ⊃ DL on the left; on the right the chain raw log → cleaning → features → model → decision, with "this week" bracketing the first two arrows.</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Week 05 | Data engineering   |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E07A1F"/>
                </a:solidFill>
                <a:latin typeface="Calibri"/>
                <a:cs typeface="Calibri"/>
                <a:ea typeface="Calibri"/>
              </a:rPr>
              <a:t>Example 1: what the naive pipeline got wrong</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Random split: mean 3.89 m, linear 2.73 m, k-NN 2.29 m</a:t>
            </a:r>
          </a:p>
          <a:p>
            <a:pPr algn="l">
              <a:spcAft>
                <a:spcPts val="1000"/>
              </a:spcAft>
            </a:pPr>
            <a:r>
              <a:rPr sz="2000" b="0" i="0" lang="en-US">
                <a:solidFill>
                  <a:srgbClr val="262626"/>
                </a:solidFill>
                <a:latin typeface="Calibri"/>
                <a:cs typeface="Calibri"/>
                <a:ea typeface="Calibri"/>
              </a:rPr>
              <a:t>• 533 LiDAR zeros read as "wall touching the sensor"</a:t>
            </a:r>
          </a:p>
          <a:p>
            <a:pPr algn="l">
              <a:spcAft>
                <a:spcPts val="1000"/>
              </a:spcAft>
            </a:pPr>
            <a:r>
              <a:rPr sz="2000" b="0" i="0" lang="en-US">
                <a:solidFill>
                  <a:srgbClr val="262626"/>
                </a:solidFill>
                <a:latin typeface="Calibri"/>
                <a:cs typeface="Calibri"/>
                <a:ea typeface="Calibri"/>
              </a:rPr>
              <a:t>• Targets of each run's last 10 rows come from the next run</a:t>
            </a:r>
          </a:p>
          <a:p>
            <a:pPr algn="l">
              <a:spcAft>
                <a:spcPts val="1000"/>
              </a:spcAft>
            </a:pPr>
            <a:r>
              <a:rPr sz="2000" b="0" i="0" lang="en-US">
                <a:solidFill>
                  <a:srgbClr val="262626"/>
                </a:solidFill>
                <a:latin typeface="Calibri"/>
                <a:cs typeface="Calibri"/>
                <a:ea typeface="Calibri"/>
              </a:rPr>
              <a:t>• 25 duplicated rows, 11 spikes up to ±25 m/s², a gyro frozen for 3 s</a:t>
            </a:r>
          </a:p>
          <a:p>
            <a:pPr algn="l">
              <a:spcAft>
                <a:spcPts val="1000"/>
              </a:spcAft>
            </a:pPr>
            <a:r>
              <a:rPr sz="2000" b="0" i="0" lang="en-US">
                <a:solidFill>
                  <a:srgbClr val="262626"/>
                </a:solidFill>
                <a:latin typeface="Calibri"/>
                <a:cs typeface="Calibri"/>
                <a:ea typeface="Calibri"/>
              </a:rPr>
              <a:t>• After this lecture: linear 0.121 m on unseen drives</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Two-column table "naive" vs "clean, split by run": mean 3.891 / 3.833, linear 2.734 / 0.121, k-NN 2.285 / 0.641 (m), with the 0.121 cell highlighted.</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Week 05 | Data engineering   |   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Look before you clean: the audit</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audit_frame counts NaN, ±inf and sentinel cells per column</a:t>
            </a:r>
          </a:p>
          <a:p>
            <a:pPr algn="l">
              <a:spcAft>
                <a:spcPts val="1000"/>
              </a:spcAft>
            </a:pPr>
            <a:r>
              <a:rPr sz="2000" b="0" i="0" lang="en-US">
                <a:solidFill>
                  <a:srgbClr val="262626"/>
                </a:solidFill>
                <a:latin typeface="Calibri"/>
                <a:cs typeface="Calibri"/>
                <a:ea typeface="Calibri"/>
              </a:rPr>
              <a:t>• LiDAR: 21 % unusable, 66 zeros in a row at a run start</a:t>
            </a:r>
          </a:p>
          <a:p>
            <a:pPr algn="l">
              <a:spcAft>
                <a:spcPts val="1000"/>
              </a:spcAft>
            </a:pPr>
            <a:r>
              <a:rPr sz="2000" b="0" i="0" lang="en-US">
                <a:solidFill>
                  <a:srgbClr val="262626"/>
                </a:solidFill>
                <a:latin typeface="Calibri"/>
                <a:cs typeface="Calibri"/>
                <a:ea typeface="Calibri"/>
              </a:rPr>
              <a:t>• Wheel speed: 19 NaN in bursts of up to 4 samples</a:t>
            </a:r>
          </a:p>
          <a:p>
            <a:pPr algn="l">
              <a:spcAft>
                <a:spcPts val="1000"/>
              </a:spcAft>
            </a:pPr>
            <a:r>
              <a:rPr sz="2000" b="0" i="0" lang="en-US">
                <a:solidFill>
                  <a:srgbClr val="262626"/>
                </a:solidFill>
                <a:latin typeface="Calibri"/>
                <a:cs typeface="Calibri"/>
                <a:ea typeface="Calibri"/>
              </a:rPr>
              <a:t>• Longest repeat: 32 identical gyro values (noise 0.3 °/s!)</a:t>
            </a:r>
          </a:p>
          <a:p>
            <a:pPr algn="l">
              <a:spcAft>
                <a:spcPts val="1000"/>
              </a:spcAft>
            </a:pPr>
            <a:r>
              <a:rPr sz="2000" b="0" i="0" lang="en-US">
                <a:solidFill>
                  <a:srgbClr val="262626"/>
                </a:solidFill>
                <a:latin typeface="Calibri"/>
                <a:cs typeface="Calibri"/>
                <a:ea typeface="Calibri"/>
              </a:rPr>
              <a:t>• Repeats are hints, not verdicts: 51 zeros = rover at rest</a:t>
            </a:r>
          </a:p>
        </p:txBody>
      </p:sp>
      <p:pic>
        <p:nvPicPr>
          <p:cNvPr id="5" name="Picture 4" descr="fig_audit.png"/>
          <p:cNvPicPr>
            <a:picLocks noChangeAspect="1"/>
          </p:cNvPicPr>
          <p:nvPr/>
        </p:nvPicPr>
        <p:blipFill>
          <a:blip r:embed="rId2"/>
          <a:stretch>
            <a:fillRect/>
          </a:stretch>
        </p:blipFill>
        <p:spPr>
          <a:xfrm>
            <a:off x="6583680" y="1371600"/>
            <a:ext cx="5150815" cy="1757459"/>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Week 05 | Data engineering   |   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A taxonomy of sensor defects</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Sentinel: LiDAR 0.0 = "no echo" (not "0 m")</a:t>
            </a:r>
          </a:p>
          <a:p>
            <a:pPr algn="l">
              <a:spcAft>
                <a:spcPts val="1000"/>
              </a:spcAft>
            </a:pPr>
            <a:r>
              <a:rPr sz="2000" b="0" i="0" lang="en-US">
                <a:solidFill>
                  <a:srgbClr val="262626"/>
                </a:solidFill>
                <a:latin typeface="Calibri"/>
                <a:cs typeface="Calibri"/>
                <a:ea typeface="Calibri"/>
              </a:rPr>
              <a:t>• Gap: NaN bursts from lost CAN packets</a:t>
            </a:r>
          </a:p>
          <a:p>
            <a:pPr algn="l">
              <a:spcAft>
                <a:spcPts val="1000"/>
              </a:spcAft>
            </a:pPr>
            <a:r>
              <a:rPr sz="2000" b="0" i="0" lang="en-US">
                <a:solidFill>
                  <a:srgbClr val="262626"/>
                </a:solidFill>
                <a:latin typeface="Calibri"/>
                <a:cs typeface="Calibri"/>
                <a:ea typeface="Calibri"/>
              </a:rPr>
              <a:t>• Outlier: dust echo, connector glitch, a 2.5 g spike</a:t>
            </a:r>
          </a:p>
          <a:p>
            <a:pPr algn="l">
              <a:spcAft>
                <a:spcPts val="1000"/>
              </a:spcAft>
            </a:pPr>
            <a:r>
              <a:rPr sz="2000" b="0" i="0" lang="en-US">
                <a:solidFill>
                  <a:srgbClr val="262626"/>
                </a:solidFill>
                <a:latin typeface="Calibri"/>
                <a:cs typeface="Calibri"/>
                <a:ea typeface="Calibri"/>
              </a:rPr>
              <a:t>• Frozen value: the sensor repeats its last reading</a:t>
            </a:r>
          </a:p>
          <a:p>
            <a:pPr algn="l">
              <a:spcAft>
                <a:spcPts val="1000"/>
              </a:spcAft>
            </a:pPr>
            <a:r>
              <a:rPr sz="2000" b="0" i="0" lang="en-US">
                <a:solidFill>
                  <a:srgbClr val="262626"/>
                </a:solidFill>
                <a:latin typeface="Calibri"/>
                <a:cs typeface="Calibri"/>
                <a:ea typeface="Calibri"/>
              </a:rPr>
              <a:t>• Duplicate: the logger re-sends a packet</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Five small time-series sketches in a row, one per defect, each with the tool that fixes it underneath: MarkInvalid, FillGaps, HampelFilter, FlagStuck (Assignment 2), SortAndDeduplicate.</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Week 05 | Data engineering   |   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E07A1F"/>
                </a:solidFill>
                <a:latin typeface="Calibri"/>
                <a:cs typeface="Calibri"/>
                <a:ea typeface="Calibri"/>
              </a:rPr>
              <a:t>Example 2: mean imputation under MNAR, by hand</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True ranges: 2, 4, 6, 8, 10, 13, 15, 17 m; LiDAR limit 12 m</a:t>
            </a:r>
          </a:p>
          <a:p>
            <a:pPr algn="l">
              <a:spcAft>
                <a:spcPts val="1000"/>
              </a:spcAft>
            </a:pPr>
            <a:r>
              <a:rPr sz="2000" b="0" i="0" lang="en-US">
                <a:solidFill>
                  <a:srgbClr val="262626"/>
                </a:solidFill>
                <a:latin typeface="Calibri"/>
                <a:cs typeface="Calibri"/>
                <a:ea typeface="Calibri"/>
              </a:rPr>
              <a:t>• True mean 75/8 = 9.375 m; observed mean 30/5 = 6.0 m</a:t>
            </a:r>
          </a:p>
          <a:p>
            <a:pPr algn="l">
              <a:spcAft>
                <a:spcPts val="1000"/>
              </a:spcAft>
            </a:pPr>
            <a:r>
              <a:rPr sz="2000" b="0" i="0" lang="en-US">
                <a:solidFill>
                  <a:srgbClr val="262626"/>
                </a:solidFill>
                <a:latin typeface="Calibri"/>
                <a:cs typeface="Calibri"/>
                <a:ea typeface="Calibri"/>
              </a:rPr>
              <a:t>• Fill the three gaps with 6.0: errors −7, −9, −11 m</a:t>
            </a:r>
          </a:p>
          <a:p>
            <a:pPr algn="l">
              <a:spcAft>
                <a:spcPts val="1000"/>
              </a:spcAft>
            </a:pPr>
            <a:r>
              <a:rPr sz="2000" b="0" i="0" lang="en-US">
                <a:solidFill>
                  <a:srgbClr val="262626"/>
                </a:solidFill>
                <a:latin typeface="Calibri"/>
                <a:cs typeface="Calibri"/>
                <a:ea typeface="Calibri"/>
              </a:rPr>
              <a:t>• Imputed mean stays 6.0: biased by −3.4 m</a:t>
            </a:r>
          </a:p>
          <a:p>
            <a:pPr algn="l">
              <a:spcAft>
                <a:spcPts val="1000"/>
              </a:spcAft>
            </a:pPr>
            <a:r>
              <a:rPr sz="2000" b="0" i="0" lang="en-US">
                <a:solidFill>
                  <a:srgbClr val="262626"/>
                </a:solidFill>
                <a:latin typeface="Calibri"/>
                <a:cs typeface="Calibri"/>
                <a:ea typeface="Calibri"/>
              </a:rPr>
              <a:t>• Rover log: true mean 6.86 m, observed about 5.1 m</a:t>
            </a:r>
          </a:p>
        </p:txBody>
      </p:sp>
      <p:pic>
        <p:nvPicPr>
          <p:cNvPr id="5" name="Picture 4" descr="fig_mnar.png"/>
          <p:cNvPicPr>
            <a:picLocks noChangeAspect="1"/>
          </p:cNvPicPr>
          <p:nvPr/>
        </p:nvPicPr>
        <p:blipFill>
          <a:blip r:embed="rId2"/>
          <a:stretch>
            <a:fillRect/>
          </a:stretch>
        </p:blipFill>
        <p:spPr>
          <a:xfrm>
            <a:off x="6583680" y="1371600"/>
            <a:ext cx="5150815" cy="2275233"/>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Week 05 | Data engineering   |   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Why is it missing? MCAR, MAR, MNAR</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MCAR: unrelated to anything (lost CAN packet)</a:t>
            </a:r>
          </a:p>
          <a:p>
            <a:pPr algn="l">
              <a:spcAft>
                <a:spcPts val="1000"/>
              </a:spcAft>
            </a:pPr>
            <a:r>
              <a:rPr sz="2000" b="0" i="0" lang="en-US">
                <a:solidFill>
                  <a:srgbClr val="262626"/>
                </a:solidFill>
                <a:latin typeface="Calibri"/>
                <a:cs typeface="Calibri"/>
                <a:ea typeface="Calibri"/>
              </a:rPr>
              <a:t>• MAR: depends on other observed columns (GPS lost, "in_hangar" logged)</a:t>
            </a:r>
          </a:p>
          <a:p>
            <a:pPr algn="l">
              <a:spcAft>
                <a:spcPts val="1000"/>
              </a:spcAft>
            </a:pPr>
            <a:r>
              <a:rPr sz="2000" b="0" i="0" lang="en-US">
                <a:solidFill>
                  <a:srgbClr val="262626"/>
                </a:solidFill>
                <a:latin typeface="Calibri"/>
                <a:cs typeface="Calibri"/>
                <a:ea typeface="Calibri"/>
              </a:rPr>
              <a:t>• MNAR: depends on the missing value itself (LiDAR beyond range)</a:t>
            </a:r>
          </a:p>
          <a:p>
            <a:pPr algn="l">
              <a:spcAft>
                <a:spcPts val="1000"/>
              </a:spcAft>
            </a:pPr>
            <a:r>
              <a:rPr sz="2000" b="0" i="0" lang="en-US">
                <a:solidFill>
                  <a:srgbClr val="262626"/>
                </a:solidFill>
                <a:latin typeface="Calibri"/>
                <a:cs typeface="Calibri"/>
                <a:ea typeface="Calibri"/>
              </a:rPr>
              <a:t>• The mechanism, not the missing fraction, decides the remedy</a:t>
            </a:r>
          </a:p>
          <a:p>
            <a:pPr algn="l">
              <a:spcAft>
                <a:spcPts val="1000"/>
              </a:spcAft>
            </a:pPr>
            <a:r>
              <a:rPr sz="2000" b="0" i="0" lang="en-US">
                <a:solidFill>
                  <a:srgbClr val="262626"/>
                </a:solidFill>
                <a:latin typeface="Calibri"/>
                <a:cs typeface="Calibri"/>
                <a:ea typeface="Calibri"/>
              </a:rPr>
              <a:t>• MNAR has no neutral fix: flag it, model it, or restrict scope</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Three panels with the same scatter of true values; dots removed at random (MCAR), removed where a second variable is high (MAR), removed where the value itself is high (MNAR).</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Week 05 | Data engineering   |   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Remedies, and when each is safe</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Drop rows: MCAR, and when few rows are lost</a:t>
            </a:r>
          </a:p>
          <a:p>
            <a:pPr algn="l">
              <a:spcAft>
                <a:spcPts val="1000"/>
              </a:spcAft>
            </a:pPr>
            <a:r>
              <a:rPr sz="2000" b="0" i="0" lang="en-US">
                <a:solidFill>
                  <a:srgbClr val="262626"/>
                </a:solidFill>
                <a:latin typeface="Calibri"/>
                <a:cs typeface="Calibri"/>
                <a:ea typeface="Calibri"/>
              </a:rPr>
              <a:t>• Interpolate in time: short interior gaps (≤ 5 samples here)</a:t>
            </a:r>
          </a:p>
          <a:p>
            <a:pPr algn="l">
              <a:spcAft>
                <a:spcPts val="1000"/>
              </a:spcAft>
            </a:pPr>
            <a:r>
              <a:rPr sz="2000" b="0" i="0" lang="en-US">
                <a:solidFill>
                  <a:srgbClr val="262626"/>
                </a:solidFill>
                <a:latin typeface="Calibri"/>
                <a:cs typeface="Calibri"/>
                <a:ea typeface="Calibri"/>
              </a:rPr>
              <a:t>• Impute (median) + indicator: weak features, MAR or MNAR</a:t>
            </a:r>
          </a:p>
          <a:p>
            <a:pPr algn="l">
              <a:spcAft>
                <a:spcPts val="1000"/>
              </a:spcAft>
            </a:pPr>
            <a:r>
              <a:rPr sz="2000" b="0" i="0" lang="en-US">
                <a:solidFill>
                  <a:srgbClr val="262626"/>
                </a:solidFill>
                <a:latin typeface="Calibri"/>
                <a:cs typeface="Calibri"/>
                <a:ea typeface="Calibri"/>
              </a:rPr>
              <a:t>• Restrict the scope: "model valid while the wall is within 12 m"</a:t>
            </a:r>
          </a:p>
          <a:p>
            <a:pPr algn="l">
              <a:spcAft>
                <a:spcPts val="1000"/>
              </a:spcAft>
            </a:pPr>
            <a:r>
              <a:rPr sz="2000" b="0" i="0" lang="en-US">
                <a:solidFill>
                  <a:srgbClr val="262626"/>
                </a:solidFill>
                <a:latin typeface="Calibri"/>
                <a:cs typeface="Calibri"/>
                <a:ea typeface="Calibri"/>
              </a:rPr>
              <a:t>• Never: interpolate across long gaps or across runs</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Decision tree: "Why missing?" → MCAR (short gap? interpolate : drop) / MAR (impute from the related column) / MNAR (indicator or restrict scope), with the rover example on each leaf.</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Week 05 | Data engineering   |   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E07A1F"/>
                </a:solidFill>
                <a:latin typeface="Calibri"/>
                <a:cs typeface="Calibri"/>
                <a:ea typeface="Calibri"/>
              </a:rPr>
              <a:t>Example 3: interpolating a gap by hand</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r(0) = 8.0 m, r(0.3) = 7.4 m; samples at 0.1 and 0.2 s missing</a:t>
            </a:r>
          </a:p>
          <a:p>
            <a:pPr algn="l">
              <a:spcAft>
                <a:spcPts val="1000"/>
              </a:spcAft>
            </a:pPr>
            <a:r>
              <a:rPr sz="2000" b="0" i="0" lang="en-US">
                <a:solidFill>
                  <a:srgbClr val="262626"/>
                </a:solidFill>
                <a:latin typeface="Calibri"/>
                <a:cs typeface="Calibri"/>
                <a:ea typeface="Calibri"/>
              </a:rPr>
              <a:t>• r(t) = 8.0 + (7.4 − 8.0)·t/0.3</a:t>
            </a:r>
          </a:p>
          <a:p>
            <a:pPr algn="l">
              <a:spcAft>
                <a:spcPts val="1000"/>
              </a:spcAft>
            </a:pPr>
            <a:r>
              <a:rPr sz="2000" b="0" i="0" lang="en-US">
                <a:solidFill>
                  <a:srgbClr val="262626"/>
                </a:solidFill>
                <a:latin typeface="Calibri"/>
                <a:cs typeface="Calibri"/>
                <a:ea typeface="Calibri"/>
              </a:rPr>
              <a:t>• r(0.1) = 7.8 m, r(0.2) = 7.6 m (implied speed 2 m/s)</a:t>
            </a:r>
          </a:p>
          <a:p>
            <a:pPr algn="l">
              <a:spcAft>
                <a:spcPts val="1000"/>
              </a:spcAft>
            </a:pPr>
            <a:r>
              <a:rPr sz="2000" b="0" i="0" lang="en-US">
                <a:solidFill>
                  <a:srgbClr val="262626"/>
                </a:solidFill>
                <a:latin typeface="Calibri"/>
                <a:cs typeface="Calibri"/>
                <a:ea typeface="Calibri"/>
              </a:rPr>
              <a:t>• FillGaps(max_gap=5) reproduces both values</a:t>
            </a:r>
          </a:p>
          <a:p>
            <a:pPr algn="l">
              <a:spcAft>
                <a:spcPts val="1000"/>
              </a:spcAft>
            </a:pPr>
            <a:r>
              <a:rPr sz="2000" b="0" i="0" lang="en-US">
                <a:solidFill>
                  <a:srgbClr val="262626"/>
                </a:solidFill>
                <a:latin typeface="Calibri"/>
                <a:cs typeface="Calibri"/>
                <a:ea typeface="Calibri"/>
              </a:rPr>
              <a:t>• Longer gaps stay NaN: interpolation would invent data</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Four points on a time axis, two hollow (missing) on the straight line joining 8.0 and 7.4, labelled 7.8 and 7.6.</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Week 05 | Data engineering   |   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Outliers: the z-score cannot see one outlier in a small sample</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Seven samples at rest and one glitch of 25 m/s²</a:t>
            </a:r>
          </a:p>
          <a:p>
            <a:pPr algn="l">
              <a:spcAft>
                <a:spcPts val="1000"/>
              </a:spcAft>
            </a:pPr>
            <a:r>
              <a:rPr sz="2000" b="0" i="0" lang="en-US">
                <a:solidFill>
                  <a:srgbClr val="262626"/>
                </a:solidFill>
                <a:latin typeface="Calibri"/>
                <a:cs typeface="Calibri"/>
                <a:ea typeface="Calibri"/>
              </a:rPr>
              <a:t>• Mean 3.16, σ 8.26: z = 2.65 &lt; 3, not flagged</a:t>
            </a:r>
          </a:p>
          <a:p>
            <a:pPr algn="l">
              <a:spcAft>
                <a:spcPts val="1000"/>
              </a:spcAft>
            </a:pPr>
            <a:r>
              <a:rPr sz="2000" b="0" i="0" lang="en-US">
                <a:solidFill>
                  <a:srgbClr val="262626"/>
                </a:solidFill>
                <a:latin typeface="Calibri"/>
                <a:cs typeface="Calibri"/>
                <a:ea typeface="Calibri"/>
              </a:rPr>
              <a:t>• Samuelson: |z| ≤ √(n − 1): 2.65 for n = 8, 3 only from n = 10</a:t>
            </a:r>
          </a:p>
          <a:p>
            <a:pPr algn="l">
              <a:spcAft>
                <a:spcPts val="1000"/>
              </a:spcAft>
            </a:pPr>
            <a:r>
              <a:rPr sz="2000" b="0" i="0" lang="en-US">
                <a:solidFill>
                  <a:srgbClr val="262626"/>
                </a:solidFill>
                <a:latin typeface="Calibri"/>
                <a:cs typeface="Calibri"/>
                <a:ea typeface="Calibri"/>
              </a:rPr>
              <a:t>• The outlier inflates the σ that should expose it (masking)</a:t>
            </a:r>
          </a:p>
          <a:p>
            <a:pPr algn="l">
              <a:spcAft>
                <a:spcPts val="1000"/>
              </a:spcAft>
            </a:pPr>
            <a:r>
              <a:rPr sz="2000" b="0" i="0" lang="en-US">
                <a:solidFill>
                  <a:srgbClr val="262626"/>
                </a:solidFill>
                <a:latin typeface="Calibri"/>
                <a:cs typeface="Calibri"/>
                <a:ea typeface="Calibri"/>
              </a:rPr>
              <a:t>• Median 0.05, MAD 0.15: robust score 112, flagged</a:t>
            </a:r>
          </a:p>
        </p:txBody>
      </p:sp>
      <p:pic>
        <p:nvPicPr>
          <p:cNvPr id="5" name="Picture 4" descr="fig_masking.png"/>
          <p:cNvPicPr>
            <a:picLocks noChangeAspect="1"/>
          </p:cNvPicPr>
          <p:nvPr/>
        </p:nvPicPr>
        <p:blipFill>
          <a:blip r:embed="rId2"/>
          <a:stretch>
            <a:fillRect/>
          </a:stretch>
        </p:blipFill>
        <p:spPr>
          <a:xfrm>
            <a:off x="6583680" y="1371600"/>
            <a:ext cx="5150815" cy="1816504"/>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Week 05 | Data engineering   |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Spike or manoeuvre? Global vs local rules</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Tukey fences [Q1 − 1.5 IQR, Q3 + 1.5 IQR]: robust but global</a:t>
            </a:r>
          </a:p>
          <a:p>
            <a:pPr algn="l">
              <a:spcAft>
                <a:spcPts val="1000"/>
              </a:spcAft>
            </a:pPr>
            <a:r>
              <a:rPr sz="2000" b="0" i="0" lang="en-US">
                <a:solidFill>
                  <a:srgbClr val="262626"/>
                </a:solidFill>
                <a:latin typeface="Calibri"/>
                <a:cs typeface="Calibri"/>
                <a:ea typeface="Calibri"/>
              </a:rPr>
              <a:t>• On the rover log they flag 239 plausible samples (braking!)</a:t>
            </a:r>
          </a:p>
          <a:p>
            <a:pPr algn="l">
              <a:spcAft>
                <a:spcPts val="1000"/>
              </a:spcAft>
            </a:pPr>
            <a:r>
              <a:rPr sz="2000" b="0" i="0" lang="en-US">
                <a:solidFill>
                  <a:srgbClr val="262626"/>
                </a:solidFill>
                <a:latin typeface="Calibri"/>
                <a:cs typeface="Calibri"/>
                <a:ea typeface="Calibri"/>
              </a:rPr>
              <a:t>• Hampel: median and MAD in a moving window of 7 samples</a:t>
            </a:r>
          </a:p>
          <a:p>
            <a:pPr algn="l">
              <a:spcAft>
                <a:spcPts val="1000"/>
              </a:spcAft>
            </a:pPr>
            <a:r>
              <a:rPr sz="2000" b="0" i="0" lang="en-US">
                <a:solidFill>
                  <a:srgbClr val="262626"/>
                </a:solidFill>
                <a:latin typeface="Calibri"/>
                <a:cs typeface="Calibri"/>
                <a:ea typeface="Calibri"/>
              </a:rPr>
              <a:t>• Compares a sample with its neighbours, not with the whole log</a:t>
            </a:r>
          </a:p>
          <a:p>
            <a:pPr algn="l">
              <a:spcAft>
                <a:spcPts val="1000"/>
              </a:spcAft>
            </a:pPr>
            <a:r>
              <a:rPr sz="2000" b="0" i="0" lang="en-US">
                <a:solidFill>
                  <a:srgbClr val="262626"/>
                </a:solidFill>
                <a:latin typeface="Calibri"/>
                <a:cs typeface="Calibri"/>
                <a:ea typeface="Calibri"/>
              </a:rPr>
              <a:t>• Use Tukey (k = 3) only as a final safety net, fitted on train</a:t>
            </a:r>
          </a:p>
        </p:txBody>
      </p:sp>
      <p:pic>
        <p:nvPicPr>
          <p:cNvPr id="5" name="Picture 4" descr="fig_outlier_rules.png"/>
          <p:cNvPicPr>
            <a:picLocks noChangeAspect="1"/>
          </p:cNvPicPr>
          <p:nvPr/>
        </p:nvPicPr>
        <p:blipFill>
          <a:blip r:embed="rId2"/>
          <a:stretch>
            <a:fillRect/>
          </a:stretch>
        </p:blipFill>
        <p:spPr>
          <a:xfrm>
            <a:off x="6583680" y="1371600"/>
            <a:ext cx="5150815" cy="2019397"/>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Week 05 | Data engineering   |   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E07A1F"/>
                </a:solidFill>
                <a:latin typeface="Calibri"/>
                <a:cs typeface="Calibri"/>
                <a:ea typeface="Calibri"/>
              </a:rPr>
              <a:t>Example 4: a dust echo in seven LiDAR readings</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8.02, 7.98, 8.01, 1.20, 7.97, 8.03, 7.99 m</a:t>
            </a:r>
          </a:p>
          <a:p>
            <a:pPr algn="l">
              <a:spcAft>
                <a:spcPts val="1000"/>
              </a:spcAft>
            </a:pPr>
            <a:r>
              <a:rPr sz="2000" b="0" i="0" lang="en-US">
                <a:solidFill>
                  <a:srgbClr val="262626"/>
                </a:solidFill>
                <a:latin typeface="Calibri"/>
                <a:cs typeface="Calibri"/>
                <a:ea typeface="Calibri"/>
              </a:rPr>
              <a:t>• Mean 7.03, σ 2.38: z(1.20) = −2.449 = −√6, the largest possible</a:t>
            </a:r>
          </a:p>
          <a:p>
            <a:pPr algn="l">
              <a:spcAft>
                <a:spcPts val="1000"/>
              </a:spcAft>
            </a:pPr>
            <a:r>
              <a:rPr sz="2000" b="0" i="0" lang="en-US">
                <a:solidFill>
                  <a:srgbClr val="262626"/>
                </a:solidFill>
                <a:latin typeface="Calibri"/>
                <a:cs typeface="Calibri"/>
                <a:ea typeface="Calibri"/>
              </a:rPr>
              <a:t>• Median 7.99, MAD 0.02: robust score 229</a:t>
            </a:r>
          </a:p>
          <a:p>
            <a:pPr algn="l">
              <a:spcAft>
                <a:spcPts val="1000"/>
              </a:spcAft>
            </a:pPr>
            <a:r>
              <a:rPr sz="2000" b="0" i="0" lang="en-US">
                <a:solidFill>
                  <a:srgbClr val="262626"/>
                </a:solidFill>
                <a:latin typeface="Calibri"/>
                <a:cs typeface="Calibri"/>
                <a:ea typeface="Calibri"/>
              </a:rPr>
              <a:t>• Tukey fences [7.915, 8.075]: flagged, but only valid for this window</a:t>
            </a:r>
          </a:p>
          <a:p>
            <a:pPr algn="l">
              <a:spcAft>
                <a:spcPts val="1000"/>
              </a:spcAft>
            </a:pPr>
            <a:r>
              <a:rPr sz="2000" b="0" i="0" lang="en-US">
                <a:solidFill>
                  <a:srgbClr val="262626"/>
                </a:solidFill>
                <a:latin typeface="Calibri"/>
                <a:cs typeface="Calibri"/>
                <a:ea typeface="Calibri"/>
              </a:rPr>
              <a:t>• Hampel, window 7: flags exactly one sample</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Seven dots on a number line from 0 to 9 m with the mean, the median and the band median ± 3·1.4826·MAD (±0.089 m) drawn; the echo far to the left.</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Week 05 | Data engineering   |   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Respect the boundaries: per-run processing</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The log is 16 separate drives glued together</a:t>
            </a:r>
          </a:p>
          <a:p>
            <a:pPr algn="l">
              <a:spcAft>
                <a:spcPts val="1000"/>
              </a:spcAft>
            </a:pPr>
            <a:r>
              <a:rPr sz="2000" b="0" i="0" lang="en-US">
                <a:solidFill>
                  <a:srgbClr val="262626"/>
                </a:solidFill>
                <a:latin typeface="Calibri"/>
                <a:cs typeface="Calibri"/>
                <a:ea typeface="Calibri"/>
              </a:rPr>
              <a:t>• Interpolation, Hampel windows, rolling means, shifts must stop at run ends</a:t>
            </a:r>
          </a:p>
          <a:p>
            <a:pPr algn="l">
              <a:spcAft>
                <a:spcPts val="1000"/>
              </a:spcAft>
            </a:pPr>
            <a:r>
              <a:rPr sz="2000" b="0" i="0" lang="en-US">
                <a:solidFill>
                  <a:srgbClr val="262626"/>
                </a:solidFill>
                <a:latin typeface="Calibri"/>
                <a:cs typeface="Calibri"/>
                <a:ea typeface="Calibri"/>
              </a:rPr>
              <a:t>• Plain shift(−10): the last 10 targets of a run come from the next run</a:t>
            </a:r>
          </a:p>
          <a:p>
            <a:pPr algn="l">
              <a:spcAft>
                <a:spcPts val="1000"/>
              </a:spcAft>
            </a:pPr>
            <a:r>
              <a:rPr sz="2000" b="0" i="0" lang="en-US">
                <a:solidFill>
                  <a:srgbClr val="262626"/>
                </a:solidFill>
                <a:latin typeface="Calibri"/>
                <a:cs typeface="Calibri"/>
                <a:ea typeface="Calibri"/>
              </a:rPr>
              <a:t>• PerGroup(stage, "run_id") applies any stateless stage per run</a:t>
            </a:r>
          </a:p>
          <a:p>
            <a:pPr algn="l">
              <a:spcAft>
                <a:spcPts val="1000"/>
              </a:spcAft>
            </a:pPr>
            <a:r>
              <a:rPr sz="2000" b="0" i="0" lang="en-US">
                <a:solidFill>
                  <a:srgbClr val="262626"/>
                </a:solidFill>
                <a:latin typeface="Calibri"/>
                <a:cs typeface="Calibri"/>
                <a:ea typeface="Calibri"/>
              </a:rPr>
              <a:t>• A composite: it is a stage and contains a stage</a:t>
            </a:r>
          </a:p>
        </p:txBody>
      </p:sp>
      <p:pic>
        <p:nvPicPr>
          <p:cNvPr id="5" name="Picture 4" descr="fig_per_group.png"/>
          <p:cNvPicPr>
            <a:picLocks noChangeAspect="1"/>
          </p:cNvPicPr>
          <p:nvPr/>
        </p:nvPicPr>
        <p:blipFill>
          <a:blip r:embed="rId2"/>
          <a:stretch>
            <a:fillRect/>
          </a:stretch>
        </p:blipFill>
        <p:spPr>
          <a:xfrm>
            <a:off x="6583680" y="1371600"/>
            <a:ext cx="5150815" cy="1903562"/>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Week 05 | Data engineering   |   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The lecture recipe: stateless cleaning</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SortAndDeduplicate: 2533 → 2508 rows</a:t>
            </a:r>
          </a:p>
          <a:p>
            <a:pPr algn="l">
              <a:spcAft>
                <a:spcPts val="1000"/>
              </a:spcAft>
            </a:pPr>
            <a:r>
              <a:rPr sz="2000" b="0" i="0" lang="en-US">
                <a:solidFill>
                  <a:srgbClr val="262626"/>
                </a:solidFill>
                <a:latin typeface="Calibri"/>
                <a:cs typeface="Calibri"/>
                <a:ea typeface="Calibri"/>
              </a:rPr>
              <a:t>• MarkInvalid: 530 LiDAR cells become NaN (0.0, outside 0.3 to 12 m)</a:t>
            </a:r>
          </a:p>
          <a:p>
            <a:pPr algn="l">
              <a:spcAft>
                <a:spcPts val="1000"/>
              </a:spcAft>
            </a:pPr>
            <a:r>
              <a:rPr sz="2000" b="0" i="0" lang="en-US">
                <a:solidFill>
                  <a:srgbClr val="262626"/>
                </a:solidFill>
                <a:latin typeface="Calibri"/>
                <a:cs typeface="Calibri"/>
                <a:ea typeface="Calibri"/>
              </a:rPr>
              <a:t>• PerGroup(Hampel), PerGroup(FillGaps), PerGroup(ForecastTarget)</a:t>
            </a:r>
          </a:p>
          <a:p>
            <a:pPr algn="l">
              <a:spcAft>
                <a:spcPts val="1000"/>
              </a:spcAft>
            </a:pPr>
            <a:r>
              <a:rPr sz="2000" b="0" i="0" lang="en-US">
                <a:solidFill>
                  <a:srgbClr val="262626"/>
                </a:solidFill>
                <a:latin typeface="Calibri"/>
                <a:cs typeface="Calibri"/>
                <a:ea typeface="Calibri"/>
              </a:rPr>
              <a:t>• DropNonFinite: 1859 rows with all features and the target</a:t>
            </a:r>
          </a:p>
          <a:p>
            <a:pPr algn="l">
              <a:spcAft>
                <a:spcPts val="1000"/>
              </a:spcAft>
            </a:pPr>
            <a:r>
              <a:rPr sz="2000" b="0" i="0" lang="en-US">
                <a:solidFill>
                  <a:srgbClr val="262626"/>
                </a:solidFill>
                <a:latin typeface="Calibri"/>
                <a:cs typeface="Calibri"/>
                <a:ea typeface="Calibri"/>
              </a:rPr>
              <a:t>• Nothing learned: safe to run before the split</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The run report table: stage, rows_in, rows_out, nan_out, cells_changed (2533/2508/19; 2508/2508/549/530; 167; 58; 0; 1859).</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Week 05 | Data engineering   |   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E07A1F"/>
                </a:solidFill>
                <a:latin typeface="Calibri"/>
                <a:cs typeface="Calibri"/>
                <a:ea typeface="Calibri"/>
              </a:rPr>
              <a:t>Example 5: which neighbour is nearest?</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q = (5.0 m, 0.0 m/s²) cruising; A = (5.1, −1.0) braking; B = (6.2, 0.0)</a:t>
            </a:r>
          </a:p>
          <a:p>
            <a:pPr algn="l">
              <a:spcAft>
                <a:spcPts val="1000"/>
              </a:spcAft>
            </a:pPr>
            <a:r>
              <a:rPr sz="2000" b="0" i="0" lang="en-US">
                <a:solidFill>
                  <a:srgbClr val="262626"/>
                </a:solidFill>
                <a:latin typeface="Calibri"/>
                <a:cs typeface="Calibri"/>
                <a:ea typeface="Calibri"/>
              </a:rPr>
              <a:t>• Raw: d_A = 1.005, d_B = 1.200, so A, the braking sample</a:t>
            </a:r>
          </a:p>
          <a:p>
            <a:pPr algn="l">
              <a:spcAft>
                <a:spcPts val="1000"/>
              </a:spcAft>
            </a:pPr>
            <a:r>
              <a:rPr sz="2000" b="0" i="0" lang="en-US">
                <a:solidFill>
                  <a:srgbClr val="262626"/>
                </a:solidFill>
                <a:latin typeface="Calibri"/>
                <a:cs typeface="Calibri"/>
                <a:ea typeface="Calibri"/>
              </a:rPr>
              <a:t>• Scaled by σ = 3.0 m and 0.4 m/s²: d_A = 2.500, d_B = 0.400</a:t>
            </a:r>
          </a:p>
          <a:p>
            <a:pPr algn="l">
              <a:spcAft>
                <a:spcPts val="1000"/>
              </a:spcAft>
            </a:pPr>
            <a:r>
              <a:rPr sz="2000" b="0" i="0" lang="en-US">
                <a:solidFill>
                  <a:srgbClr val="262626"/>
                </a:solidFill>
                <a:latin typeface="Calibri"/>
                <a:cs typeface="Calibri"/>
                <a:ea typeface="Calibri"/>
              </a:rPr>
              <a:t>• Now B, the cruising sample, is nearest</a:t>
            </a:r>
          </a:p>
          <a:p>
            <a:pPr algn="l">
              <a:spcAft>
                <a:spcPts val="1000"/>
              </a:spcAft>
            </a:pPr>
            <a:r>
              <a:rPr sz="2000" b="0" i="0" lang="en-US">
                <a:solidFill>
                  <a:srgbClr val="262626"/>
                </a:solidFill>
                <a:latin typeface="Calibri"/>
                <a:cs typeface="Calibri"/>
                <a:ea typeface="Calibri"/>
              </a:rPr>
              <a:t>• Units must not decide who is similar</a:t>
            </a:r>
          </a:p>
        </p:txBody>
      </p:sp>
      <p:pic>
        <p:nvPicPr>
          <p:cNvPr id="5" name="Picture 4" descr="fig_scaling.png"/>
          <p:cNvPicPr>
            <a:picLocks noChangeAspect="1"/>
          </p:cNvPicPr>
          <p:nvPr/>
        </p:nvPicPr>
        <p:blipFill>
          <a:blip r:embed="rId2"/>
          <a:stretch>
            <a:fillRect/>
          </a:stretch>
        </p:blipFill>
        <p:spPr>
          <a:xfrm>
            <a:off x="6583680" y="1371600"/>
            <a:ext cx="5150815" cy="1961058"/>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Week 05 | Data engineering   |   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Three scalers and one rule</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z-score (x − μ)/σ; min-max (x − min)/(max − min); robust (x − median)/IQR</a:t>
            </a:r>
          </a:p>
          <a:p>
            <a:pPr algn="l">
              <a:spcAft>
                <a:spcPts val="1000"/>
              </a:spcAft>
            </a:pPr>
            <a:r>
              <a:rPr sz="2000" b="0" i="0" lang="en-US">
                <a:solidFill>
                  <a:srgbClr val="262626"/>
                </a:solidFill>
                <a:latin typeface="Calibri"/>
                <a:cs typeface="Calibri"/>
                <a:ea typeface="Calibri"/>
              </a:rPr>
              <a:t>• Every scaler, imputer and clipper learns numbers from data</a:t>
            </a:r>
          </a:p>
          <a:p>
            <a:pPr algn="l">
              <a:spcAft>
                <a:spcPts val="1000"/>
              </a:spcAft>
            </a:pPr>
            <a:r>
              <a:rPr sz="2000" b="0" i="0" lang="en-US">
                <a:solidFill>
                  <a:srgbClr val="262626"/>
                </a:solidFill>
                <a:latin typeface="Calibri"/>
                <a:cs typeface="Calibri"/>
                <a:ea typeface="Calibri"/>
              </a:rPr>
              <a:t>• Learn them from training rows only; apply the same numbers to test</a:t>
            </a:r>
          </a:p>
          <a:p>
            <a:pPr algn="l">
              <a:spcAft>
                <a:spcPts val="1000"/>
              </a:spcAft>
            </a:pPr>
            <a:r>
              <a:rPr sz="2000" b="0" i="0" lang="en-US">
                <a:solidFill>
                  <a:srgbClr val="262626"/>
                </a:solidFill>
                <a:latin typeface="Calibri"/>
                <a:cs typeface="Calibri"/>
                <a:ea typeface="Calibri"/>
              </a:rPr>
              <a:t>• ColumnStatStage: template method fit → learn(), transform → apply()</a:t>
            </a:r>
          </a:p>
          <a:p>
            <a:pPr algn="l">
              <a:spcAft>
                <a:spcPts val="1000"/>
              </a:spcAft>
            </a:pPr>
            <a:r>
              <a:rPr sz="2000" b="0" i="0" lang="en-US">
                <a:solidFill>
                  <a:srgbClr val="262626"/>
                </a:solidFill>
                <a:latin typeface="Calibri"/>
                <a:cs typeface="Calibri"/>
                <a:ea typeface="Calibri"/>
              </a:rPr>
              <a:t>• Test values outside [0, 1] after min-max are a finding, not a bug</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UML: ColumnStatStage (abstract learn, apply; fit, transform) with subclasses ImputeMedian, MinMaxScale, RobustScale and a dashed IQRClipper (Assignment 2).</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Week 05 | Data engineering   |   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Leakage: when the test set is not really unseen</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Preprocessing statistics computed before the split</a:t>
            </a:r>
          </a:p>
          <a:p>
            <a:pPr algn="l">
              <a:spcAft>
                <a:spcPts val="1000"/>
              </a:spcAft>
            </a:pPr>
            <a:r>
              <a:rPr sz="2000" b="0" i="0" lang="en-US">
                <a:solidFill>
                  <a:srgbClr val="262626"/>
                </a:solidFill>
                <a:latin typeface="Calibri"/>
                <a:cs typeface="Calibri"/>
                <a:ea typeface="Calibri"/>
              </a:rPr>
              <a:t>• Features that will not exist at prediction time (future samples)</a:t>
            </a:r>
          </a:p>
          <a:p>
            <a:pPr algn="l">
              <a:spcAft>
                <a:spcPts val="1000"/>
              </a:spcAft>
            </a:pPr>
            <a:r>
              <a:rPr sz="2000" b="0" i="0" lang="en-US">
                <a:solidFill>
                  <a:srgbClr val="262626"/>
                </a:solidFill>
                <a:latin typeface="Calibri"/>
                <a:cs typeface="Calibri"/>
                <a:ea typeface="Calibri"/>
              </a:rPr>
              <a:t>• Targets that cross into the test period or another run</a:t>
            </a:r>
          </a:p>
          <a:p>
            <a:pPr algn="l">
              <a:spcAft>
                <a:spcPts val="1000"/>
              </a:spcAft>
            </a:pPr>
            <a:r>
              <a:rPr sz="2000" b="0" i="0" lang="en-US">
                <a:solidFill>
                  <a:srgbClr val="262626"/>
                </a:solidFill>
                <a:latin typeface="Calibri"/>
                <a:cs typeface="Calibri"/>
                <a:ea typeface="Calibri"/>
              </a:rPr>
              <a:t>• Random splits of time series: 10 Hz twins on both sides</a:t>
            </a:r>
          </a:p>
          <a:p>
            <a:pPr algn="l">
              <a:spcAft>
                <a:spcPts val="1000"/>
              </a:spcAft>
            </a:pPr>
            <a:r>
              <a:rPr sz="2000" b="0" i="0" lang="en-US">
                <a:solidFill>
                  <a:srgbClr val="262626"/>
                </a:solidFill>
                <a:latin typeface="Calibri"/>
                <a:cs typeface="Calibri"/>
                <a:ea typeface="Calibri"/>
              </a:rPr>
              <a:t>• P(a test row has a training neighbour) = 1 − 0.25² = 0.94</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Timeline of 20 samples at 10 Hz, test samples in red scattered among blue training samples, each red one bracketed by blue neighbours 0.1 s away.</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Week 05 | Data engineering   |   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E07A1F"/>
                </a:solidFill>
                <a:latin typeface="Calibri"/>
                <a:cs typeface="Calibri"/>
                <a:ea typeface="Calibri"/>
              </a:rPr>
              <a:t>Example 6: four splitters, one model</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Random rows: k-NN 0.319 m (LEAKY)</a:t>
            </a:r>
          </a:p>
          <a:p>
            <a:pPr algn="l">
              <a:spcAft>
                <a:spcPts val="1000"/>
              </a:spcAft>
            </a:pPr>
            <a:r>
              <a:rPr sz="2000" b="0" i="0" lang="en-US">
                <a:solidFill>
                  <a:srgbClr val="262626"/>
                </a:solidFill>
                <a:latin typeface="Calibri"/>
                <a:cs typeface="Calibri"/>
                <a:ea typeface="Calibri"/>
              </a:rPr>
              <a:t>• Chronological: 0.634 m (LEAKY: one run cut in two)</a:t>
            </a:r>
          </a:p>
          <a:p>
            <a:pPr algn="l">
              <a:spcAft>
                <a:spcPts val="1000"/>
              </a:spcAft>
            </a:pPr>
            <a:r>
              <a:rPr sz="2000" b="0" i="0" lang="en-US">
                <a:solidFill>
                  <a:srgbClr val="262626"/>
                </a:solidFill>
                <a:latin typeface="Calibri"/>
                <a:cs typeface="Calibri"/>
                <a:ea typeface="Calibri"/>
              </a:rPr>
              <a:t>• Chronological with a 10-row gap: 0.634 m (OK)</a:t>
            </a:r>
          </a:p>
          <a:p>
            <a:pPr algn="l">
              <a:spcAft>
                <a:spcPts val="1000"/>
              </a:spcAft>
            </a:pPr>
            <a:r>
              <a:rPr sz="2000" b="0" i="0" lang="en-US">
                <a:solidFill>
                  <a:srgbClr val="262626"/>
                </a:solidFill>
                <a:latin typeface="Calibri"/>
                <a:cs typeface="Calibri"/>
                <a:ea typeface="Calibri"/>
              </a:rPr>
              <a:t>• By run (GroupHoldoutSplit): 0.641 m (OK): the real question</a:t>
            </a:r>
          </a:p>
          <a:p>
            <a:pPr algn="l">
              <a:spcAft>
                <a:spcPts val="1000"/>
              </a:spcAft>
            </a:pPr>
            <a:r>
              <a:rPr sz="2000" b="0" i="0" lang="en-US">
                <a:solidFill>
                  <a:srgbClr val="262626"/>
                </a:solidFill>
                <a:latin typeface="Calibri"/>
                <a:cs typeface="Calibri"/>
                <a:ea typeface="Calibri"/>
              </a:rPr>
              <a:t>• Linear model: 0.098 to 0.121 m whatever the split</a:t>
            </a:r>
          </a:p>
        </p:txBody>
      </p:sp>
      <p:pic>
        <p:nvPicPr>
          <p:cNvPr id="5" name="Picture 4" descr="fig_split_leakage.png"/>
          <p:cNvPicPr>
            <a:picLocks noChangeAspect="1"/>
          </p:cNvPicPr>
          <p:nvPr/>
        </p:nvPicPr>
        <p:blipFill>
          <a:blip r:embed="rId2"/>
          <a:stretch>
            <a:fillRect/>
          </a:stretch>
        </p:blipFill>
        <p:spPr>
          <a:xfrm>
            <a:off x="6583680" y="1371600"/>
            <a:ext cx="5150815" cy="1685434"/>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Week 05 | Data engineering   |   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Non-causal features and time-series CV</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Week 3's RollingMean is centred: it uses future samples</a:t>
            </a:r>
          </a:p>
          <a:p>
            <a:pPr algn="l">
              <a:spcAft>
                <a:spcPts val="1000"/>
              </a:spcAft>
            </a:pPr>
            <a:r>
              <a:rPr sz="2000" b="0" i="0" lang="en-US">
                <a:solidFill>
                  <a:srgbClr val="262626"/>
                </a:solidFill>
                <a:latin typeface="Calibri"/>
                <a:cs typeface="Calibri"/>
                <a:ea typeface="Calibri"/>
              </a:rPr>
              <a:t>• CausalRollingMean uses only the past: it can run on the rover</a:t>
            </a:r>
          </a:p>
          <a:p>
            <a:pPr algn="l">
              <a:spcAft>
                <a:spcPts val="1000"/>
              </a:spcAft>
            </a:pPr>
            <a:r>
              <a:rPr sz="2000" b="0" i="0" lang="en-US">
                <a:solidFill>
                  <a:srgbClr val="262626"/>
                </a:solidFill>
                <a:latin typeface="Calibri"/>
                <a:cs typeface="Calibri"/>
                <a:ea typeface="Calibri"/>
              </a:rPr>
              <a:t>• ChronologicalSplit(gap = horizon) purges overlapping targets</a:t>
            </a:r>
          </a:p>
          <a:p>
            <a:pPr algn="l">
              <a:spcAft>
                <a:spcPts val="1000"/>
              </a:spcAft>
            </a:pPr>
            <a:r>
              <a:rPr sz="2000" b="0" i="0" lang="en-US">
                <a:solidFill>
                  <a:srgbClr val="262626"/>
                </a:solidFill>
                <a:latin typeface="Calibri"/>
                <a:cs typeface="Calibri"/>
                <a:ea typeface="Calibri"/>
              </a:rPr>
              <a:t>• ExpandingWindowCV: train on blocks 1..k, test on block k + 1</a:t>
            </a:r>
          </a:p>
          <a:p>
            <a:pPr algn="l">
              <a:spcAft>
                <a:spcPts val="1000"/>
              </a:spcAft>
            </a:pPr>
            <a:r>
              <a:rPr sz="2000" b="0" i="0" lang="en-US">
                <a:solidFill>
                  <a:srgbClr val="262626"/>
                </a:solidFill>
                <a:latin typeface="Calibri"/>
                <a:cs typeface="Calibri"/>
                <a:ea typeface="Calibri"/>
              </a:rPr>
              <a:t>• Week 7: pass such a splitter to GridSearchCV</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Step input 0, 0, 0, 0, 9, 9: the centred mean (window 3) rises at index 3, before the step; the trailing mean rises at index 4. Below, four expanding-window folds as coloured bars.</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Week 05 | Data engineering   |   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The leak-free workflow</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1. Stateless cleaning on the whole log, one run at a time</a:t>
            </a:r>
          </a:p>
          <a:p>
            <a:pPr algn="l">
              <a:spcAft>
                <a:spcPts val="1000"/>
              </a:spcAft>
            </a:pPr>
            <a:r>
              <a:rPr sz="2000" b="0" i="0" lang="en-US">
                <a:solidFill>
                  <a:srgbClr val="262626"/>
                </a:solidFill>
                <a:latin typeface="Calibri"/>
                <a:cs typeface="Calibri"/>
                <a:ea typeface="Calibri"/>
              </a:rPr>
              <a:t>• 2. Split by run (or by time, with a gap)</a:t>
            </a:r>
          </a:p>
          <a:p>
            <a:pPr algn="l">
              <a:spcAft>
                <a:spcPts val="1000"/>
              </a:spcAft>
            </a:pPr>
            <a:r>
              <a:rPr sz="2000" b="0" i="0" lang="en-US">
                <a:solidFill>
                  <a:srgbClr val="262626"/>
                </a:solidFill>
                <a:latin typeface="Calibri"/>
                <a:cs typeface="Calibri"/>
                <a:ea typeface="Calibri"/>
              </a:rPr>
              <a:t>• 3. Fit learned stages (impute, clip, scale) on training rows</a:t>
            </a:r>
          </a:p>
          <a:p>
            <a:pPr algn="l">
              <a:spcAft>
                <a:spcPts val="1000"/>
              </a:spcAft>
            </a:pPr>
            <a:r>
              <a:rPr sz="2000" b="0" i="0" lang="en-US">
                <a:solidFill>
                  <a:srgbClr val="262626"/>
                </a:solidFill>
                <a:latin typeface="Calibri"/>
                <a:cs typeface="Calibri"/>
                <a:ea typeface="Calibri"/>
              </a:rPr>
              <a:t>• 4. Transform training and test rows with the same fitted pipeline</a:t>
            </a:r>
          </a:p>
          <a:p>
            <a:pPr algn="l">
              <a:spcAft>
                <a:spcPts val="1000"/>
              </a:spcAft>
            </a:pPr>
            <a:r>
              <a:rPr sz="2000" b="0" i="0" lang="en-US">
                <a:solidFill>
                  <a:srgbClr val="262626"/>
                </a:solidFill>
                <a:latin typeface="Calibri"/>
                <a:cs typeface="Calibri"/>
                <a:ea typeface="Calibri"/>
              </a:rPr>
              <a:t>• 5. Fit and score the model; report the split</a:t>
            </a:r>
          </a:p>
        </p:txBody>
      </p:sp>
      <p:pic>
        <p:nvPicPr>
          <p:cNvPr id="5" name="Picture 4" descr="fig_workflow.png"/>
          <p:cNvPicPr>
            <a:picLocks noChangeAspect="1"/>
          </p:cNvPicPr>
          <p:nvPr/>
        </p:nvPicPr>
        <p:blipFill>
          <a:blip r:embed="rId2"/>
          <a:stretch>
            <a:fillRect/>
          </a:stretch>
        </p:blipFill>
        <p:spPr>
          <a:xfrm>
            <a:off x="6583680" y="1371600"/>
            <a:ext cx="5150815" cy="1862641"/>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Week 05 | Data engineering   |   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E07A1F"/>
                </a:solidFill>
                <a:latin typeface="Calibri"/>
                <a:cs typeface="Calibri"/>
                <a:ea typeface="Calibri"/>
              </a:rPr>
              <a:t>Example 7: the same model, before and after</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Naive, random split: linear 2.734 m, k-NN 2.285 m</a:t>
            </a:r>
          </a:p>
          <a:p>
            <a:pPr algn="l">
              <a:spcAft>
                <a:spcPts val="1000"/>
              </a:spcAft>
            </a:pPr>
            <a:r>
              <a:rPr sz="2000" b="0" i="0" lang="en-US">
                <a:solidFill>
                  <a:srgbClr val="262626"/>
                </a:solidFill>
                <a:latin typeface="Calibri"/>
                <a:cs typeface="Calibri"/>
                <a:ea typeface="Calibri"/>
              </a:rPr>
              <a:t>• Clean, split by run: linear 0.121 m, k-NN 0.641 m</a:t>
            </a:r>
          </a:p>
          <a:p>
            <a:pPr algn="l">
              <a:spcAft>
                <a:spcPts val="1000"/>
              </a:spcAft>
            </a:pPr>
            <a:r>
              <a:rPr sz="2000" b="0" i="0" lang="en-US">
                <a:solidFill>
                  <a:srgbClr val="262626"/>
                </a:solidFill>
                <a:latin typeface="Calibri"/>
                <a:cs typeface="Calibri"/>
                <a:ea typeface="Calibri"/>
              </a:rPr>
              <a:t>• Mean baseline: 3.83 m, beaten by a factor of 30</a:t>
            </a:r>
          </a:p>
          <a:p>
            <a:pPr algn="l">
              <a:spcAft>
                <a:spcPts val="1000"/>
              </a:spcAft>
            </a:pPr>
            <a:r>
              <a:rPr sz="2000" b="0" i="0" lang="en-US">
                <a:solidFill>
                  <a:srgbClr val="262626"/>
                </a:solidFill>
                <a:latin typeface="Calibri"/>
                <a:cs typeface="Calibri"/>
                <a:ea typeface="Calibri"/>
              </a:rPr>
              <a:t>• Weights: future range ≈ range − speed × 1 s, plus a little acceleration</a:t>
            </a:r>
          </a:p>
          <a:p>
            <a:pPr algn="l">
              <a:spcAft>
                <a:spcPts val="1000"/>
              </a:spcAft>
            </a:pPr>
            <a:r>
              <a:rPr sz="2000" b="0" i="0" lang="en-US">
                <a:solidFill>
                  <a:srgbClr val="262626"/>
                </a:solidFill>
                <a:latin typeface="Calibri"/>
                <a:cs typeface="Calibri"/>
                <a:ea typeface="Calibri"/>
              </a:rPr>
              <a:t>• Every number on this slide can be reproduced from the repo</a:t>
            </a:r>
          </a:p>
        </p:txBody>
      </p:sp>
      <p:pic>
        <p:nvPicPr>
          <p:cNvPr id="5" name="Picture 4" descr="fig_forecast.png"/>
          <p:cNvPicPr>
            <a:picLocks noChangeAspect="1"/>
          </p:cNvPicPr>
          <p:nvPr/>
        </p:nvPicPr>
        <p:blipFill>
          <a:blip r:embed="rId2"/>
          <a:stretch>
            <a:fillRect/>
          </a:stretch>
        </p:blipFill>
        <p:spPr>
          <a:xfrm>
            <a:off x="6583680" y="1371600"/>
            <a:ext cx="5150815" cy="1903562"/>
          </a:xfrm>
          <a:prstGeom prst="rect">
            <a:avLst/>
          </a:prstGeom>
        </p:spPr>
      </p:pic>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Week 05 | Data engineering   |   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This week's work</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Lab: notebooks/week05/week05_data_engineering.ipynb (6 exercises)</a:t>
            </a:r>
          </a:p>
          <a:p>
            <a:pPr algn="l">
              <a:spcAft>
                <a:spcPts val="1000"/>
              </a:spcAft>
            </a:pPr>
            <a:r>
              <a:rPr sz="2000" b="0" i="0" lang="en-US">
                <a:solidFill>
                  <a:srgbClr val="262626"/>
                </a:solidFill>
                <a:latin typeface="Calibri"/>
                <a:cs typeface="Calibri"/>
                <a:ea typeface="Calibri"/>
              </a:rPr>
              <a:t>• In class: 4 warm-ups (dust echo, MNAR, leakage hunt, scaling)</a:t>
            </a:r>
          </a:p>
          <a:p>
            <a:pPr algn="l">
              <a:spcAft>
                <a:spcPts val="1000"/>
              </a:spcAft>
            </a:pPr>
            <a:r>
              <a:rPr sz="2000" b="0" i="0" lang="en-US">
                <a:solidFill>
                  <a:srgbClr val="262626"/>
                </a:solidFill>
                <a:latin typeface="Calibri"/>
                <a:cs typeface="Calibri"/>
                <a:ea typeface="Calibri"/>
              </a:rPr>
              <a:t>• Assignment 2 (graded, about 4 h): leak-free cleaning of a new rover log</a:t>
            </a:r>
          </a:p>
          <a:p>
            <a:pPr algn="l">
              <a:spcAft>
                <a:spcPts val="1000"/>
              </a:spcAft>
            </a:pPr>
            <a:r>
              <a:rPr sz="2000" b="0" i="0" lang="en-US">
                <a:solidFill>
                  <a:srgbClr val="262626"/>
                </a:solidFill>
                <a:latin typeface="Calibri"/>
                <a:cs typeface="Calibri"/>
                <a:ea typeface="Calibri"/>
              </a:rPr>
              <a:t>• Due at the start of Week 6</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Three icons: notebook, pencil, Git branch.</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Week 05 | Data engineering   |   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77295" cy="868680"/>
          </a:xfrm>
          <a:prstGeom prst="rect">
            <a:avLst/>
          </a:prstGeom>
          <a:noFill/>
        </p:spPr>
        <p:txBody>
          <a:bodyPr wrap="square">
            <a:spAutoFit/>
          </a:bodyPr>
          <a:lstStyle/>
          <a:p>
            <a:pPr algn="l">
              <a:spcAft>
                <a:spcPts val="1000"/>
              </a:spcAft>
            </a:pPr>
            <a:r>
              <a:rPr sz="3000" b="1" i="0" lang="en-US">
                <a:solidFill>
                  <a:srgbClr val="1F3A5F"/>
                </a:solidFill>
                <a:latin typeface="Calibri"/>
                <a:cs typeface="Calibri"/>
                <a:ea typeface="Calibri"/>
              </a:rPr>
              <a:t>What We Now Know How To Do</a:t>
            </a:r>
          </a:p>
        </p:txBody>
      </p:sp>
      <p:sp>
        <p:nvSpPr>
          <p:cNvPr id="4" name="TextBox 3"/>
          <p:cNvSpPr txBox="1"/>
          <p:nvPr/>
        </p:nvSpPr>
        <p:spPr>
          <a:xfrm>
            <a:off x="457200" y="1371600"/>
            <a:ext cx="5852160" cy="4846320"/>
          </a:xfrm>
          <a:prstGeom prst="rect">
            <a:avLst/>
          </a:prstGeom>
          <a:noFill/>
        </p:spPr>
        <p:txBody>
          <a:bodyPr wrap="square">
            <a:spAutoFit/>
          </a:bodyPr>
          <a:lstStyle/>
          <a:p>
            <a:pPr algn="l">
              <a:spcAft>
                <a:spcPts val="1000"/>
              </a:spcAft>
            </a:pPr>
            <a:r>
              <a:rPr sz="2000" b="0" i="0" lang="en-US">
                <a:solidFill>
                  <a:srgbClr val="262626"/>
                </a:solidFill>
                <a:latin typeface="Calibri"/>
                <a:cs typeface="Calibri"/>
                <a:ea typeface="Calibri"/>
              </a:rPr>
              <a:t>• Audit a raw sensor log before touching it</a:t>
            </a:r>
          </a:p>
          <a:p>
            <a:pPr algn="l">
              <a:spcAft>
                <a:spcPts val="1000"/>
              </a:spcAft>
            </a:pPr>
            <a:r>
              <a:rPr sz="2000" b="0" i="0" lang="en-US">
                <a:solidFill>
                  <a:srgbClr val="262626"/>
                </a:solidFill>
                <a:latin typeface="Calibri"/>
                <a:cs typeface="Calibri"/>
                <a:ea typeface="Calibri"/>
              </a:rPr>
              <a:t>• Name the missing-data mechanism and pick a remedy that fits it</a:t>
            </a:r>
          </a:p>
          <a:p>
            <a:pPr algn="l">
              <a:spcAft>
                <a:spcPts val="1000"/>
              </a:spcAft>
            </a:pPr>
            <a:r>
              <a:rPr sz="2000" b="0" i="0" lang="en-US">
                <a:solidFill>
                  <a:srgbClr val="262626"/>
                </a:solidFill>
                <a:latin typeface="Calibri"/>
                <a:cs typeface="Calibri"/>
                <a:ea typeface="Calibri"/>
              </a:rPr>
              <a:t>• Tell spikes from manoeuvres with local, robust outlier rules</a:t>
            </a:r>
          </a:p>
          <a:p>
            <a:pPr algn="l">
              <a:spcAft>
                <a:spcPts val="1000"/>
              </a:spcAft>
            </a:pPr>
            <a:r>
              <a:rPr sz="2000" b="0" i="0" lang="en-US">
                <a:solidFill>
                  <a:srgbClr val="262626"/>
                </a:solidFill>
                <a:latin typeface="Calibri"/>
                <a:cs typeface="Calibri"/>
                <a:ea typeface="Calibri"/>
              </a:rPr>
              <a:t>• Keep neighbour-based steps inside one run; scale with training statistics</a:t>
            </a:r>
          </a:p>
          <a:p>
            <a:pPr algn="l">
              <a:spcAft>
                <a:spcPts val="1000"/>
              </a:spcAft>
            </a:pPr>
            <a:r>
              <a:rPr sz="2000" b="0" i="0" lang="en-US">
                <a:solidFill>
                  <a:srgbClr val="262626"/>
                </a:solidFill>
                <a:latin typeface="Calibri"/>
                <a:cs typeface="Calibri"/>
                <a:ea typeface="Calibri"/>
              </a:rPr>
              <a:t>• Split time-ordered, grouped data without leakage, and prove it</a:t>
            </a:r>
          </a:p>
        </p:txBody>
      </p:sp>
      <p:sp>
        <p:nvSpPr>
          <p:cNvPr id="5" name="Rounded Rectangle 4"/>
          <p:cNvSpPr/>
          <p:nvPr/>
        </p:nvSpPr>
        <p:spPr>
          <a:xfrm>
            <a:off x="6583680" y="1371600"/>
            <a:ext cx="5150815" cy="4846320"/>
          </a:xfrm>
          <a:prstGeom prst="roundRect">
            <a:avLst/>
          </a:prstGeom>
          <a:solidFill>
            <a:srgbClr val="F2F2F2"/>
          </a:solidFill>
          <a:ln>
            <a:solidFill>
              <a:srgbClr val="59595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lang="en-US">
                <a:solidFill>
                  <a:srgbClr val="595959"/>
                </a:solidFill>
                <a:latin typeface="Calibri"/>
                <a:cs typeface="Calibri"/>
                <a:ea typeface="Calibri"/>
              </a:rPr>
              <a:t>Visual: The opener's naive pipeline crossed out, replaced by the five-step leak-free workflow with green check marks and the RMSE 2.73 m → 0.12 m.</a:t>
            </a:r>
          </a:p>
        </p:txBody>
      </p:sp>
      <p:sp>
        <p:nvSpPr>
          <p:cNvPr id="6" name="TextBox 5"/>
          <p:cNvSpPr txBox="1"/>
          <p:nvPr/>
        </p:nvSpPr>
        <p:spPr>
          <a:xfrm>
            <a:off x="457200" y="6400800"/>
            <a:ext cx="11277295" cy="365760"/>
          </a:xfrm>
          <a:prstGeom prst="rect">
            <a:avLst/>
          </a:prstGeom>
          <a:noFill/>
        </p:spPr>
        <p:txBody>
          <a:bodyPr wrap="square">
            <a:spAutoFit/>
          </a:bodyPr>
          <a:lstStyle/>
          <a:p>
            <a:pPr algn="l">
              <a:spcAft>
                <a:spcPts val="1000"/>
              </a:spcAft>
            </a:pPr>
            <a:r>
              <a:rPr sz="1100" b="0" i="0" lang="en-US">
                <a:solidFill>
                  <a:srgbClr val="595959"/>
                </a:solidFill>
                <a:latin typeface="Calibri"/>
                <a:cs typeface="Calibri"/>
                <a:ea typeface="Calibri"/>
              </a:rPr>
              <a:t>Week 05 | Data engineering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