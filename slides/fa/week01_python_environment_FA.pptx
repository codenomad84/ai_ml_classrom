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جلسه را با فایل داده شروع کنید، نه با پایتون. از کلاس بپرسید پرسش ۲ را با Excel چگونه پاسخ می‌دهند. چهار پرسش را تا پایان جلسه روی تخته نگه دارید؛ هر ابزار تازه به یکی از آن‌ها پاسخ می‌دهد.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دانشجویانی که پیش‌زمینه‌ی برنامه‌نویسی ضعیفی دارند باید ببینند هر ابزار برای چه وجود دارد.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توجه دهید که accel_z روی زمین حدود ۹٫۸۱ است: شتاب‌سنج نیروی ویژه را می‌سنجد، پس در حالت توقف ۱g رو به بالا نشان می‌دهد.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منبع: مقاله‌های GeeksforGeeks با عنوان «Python Virtual Environment» و «Set up virtual environment for Python using Anaconda» (بازنویسی‌شده).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به‌صورت زنده نمایش دهید و دانشجویان همزمان تایپ کنند. مبانی گیت بر اساس «Git Introduction» در W3Schools (مخزن، staging، commit، شاخه، push/pull).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تمرین عملی ده‌دقیقه‌ای. هر کس اینجا گیر کند همین حالا کمک بگیرد، نه در هفته‌ی 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بازنویسی از «Introduction to NumPy» در W3Schools. سلول زمان‌سنجی نوت‌بوک افزایش سرعت را روی ۲۰۰٬۰۰۰ بردار نشان می‌دهد.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مسئله‌ی ۴ کلاسی همین را تمرین می‌کند.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ابتدا روی تخته حل کنید، سپس سلول را اجرا کنید. این یک خطای خاموش کلاسیک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برگرفته از Anderson, Introduction to Flight, Ch. 6 (پرواز دورزدن).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بازنویسی از «Pandas Read CSV» و «Analyzing DataFrames» در W3Schools و «DataFrame describe()» در GeeksforGeeks.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سپس نسخه‌ی برداری: np.linalg.norm(samples, axis=1) / G0.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پاسخ پرسش ۱ را روی تخته بنویسید.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این نخستین تصمیم پاک‌سازی داده در این درس است؛ هفته‌ی ۵ آن را تعمیم می‌دهد.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پیش از نمایش پاسخ، دانشجویان هر دو را روی کاغذ حساب کنند.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اگر وقت بود، fig_gyro_noise.png را هم نشان دهید.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بازنویسی از «Matplotlib Pyplot» در W3Schools.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انگیزه‌ی هموارسازی؛ همین استدلال در هفته‌ی ۱۲ (سرعت مسیر) برمی‌گردد.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کد: src/aerospace_ai/utils.py. استاد: پیش از هفته‌ی ۲ آن را بخوانید؛ چند ویژگی شیءگرایی را پیش‌نمایش می‌دهد.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تمرین ۰ آزمون‌های پنهان دارد؛ آزمون‌های عمومی قالب خروجی را نشان می‌دهند.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با بازگشت به اسلاید نخست جمع‌بندی کنید: اکنون هر پرسش یک عدد دارد.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011680"/>
            <a:ext cx="12191695" cy="21945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9456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4000" b="1" i="0" lang="fa-IR">
                <a:solidFill>
                  <a:srgbClr val="FFFFFF"/>
                </a:solidFill>
                <a:latin typeface="Tahoma"/>
                <a:cs typeface="Tahoma"/>
                <a:ea typeface="Tahoma"/>
              </a:rPr>
              <a:t>هفته‌ی ۱: مرور پایتون و محیط کار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400" b="0" i="0" lang="fa-IR">
                <a:solidFill>
                  <a:srgbClr val="FFFFFF"/>
                </a:solidFill>
                <a:latin typeface="Tahoma"/>
                <a:cs typeface="Tahoma"/>
                <a:ea typeface="Tahoma"/>
              </a:rPr>
              <a:t>از لاگ خام پرواز تا پاسخ‌های مهندسی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هوش مصنوعی برای مهندسی هوافضا و مکانیک (دکتری)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محتوای جدید. ابزارهای پایتون با بازنویسی از W3Schools (آموزش‌های Python، NumPy، Pandas، Matplotlib و Git) و GeeksforGeeks (محیط مجازی، Anaconda، Jupyter و describe)؛ ضریب بار برگرفته از Anderson, Introduction to Flight, Ch. 6.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یک لاگ پرواز روی میز شماست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پرواز آزمایشی پنج‌دقیقه‌ای پهپاد؛ IMU با نرخ ۵۰ هرتز به‌همراه بارومتر، پیتوت و دما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پرسش ۱: نرخ نمونه‌برداری چقدر بود؟ آیا داده‌ای گم شد؟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پرسش ۲: بیشینه‌ی ضریب بار؟ آیا از حد ۲٫۰g عبور شد؟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پرسش ۳: نویز ژیروسکوپ‌ها هنگام توقف چقدر است؟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پرسش ۴: بیشینه‌ی نرخ صعود چقدر بود؟</a:t>
            </a:r>
          </a:p>
        </p:txBody>
      </p:sp>
      <p:pic>
        <p:nvPicPr>
          <p:cNvPr id="5" name="Picture 4" descr="fig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39963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۰۱ | مرور پایتون و محیط کار   |  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امروز: مسئله ← ابزار ← پاسخ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محیط تکرارپذیر: conda یا venv، ژوپیتر، گیت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NumPy: محاسبات برداری روی آرایه‌ها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Pandas: جدول‌های برچسب‌دار، read_csv و describe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Matplotlib: نمودارهایی که به پرسش پاسخ می‌دهند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پیش‌نمایش: همان منطق در قالب یک کلاس قابل استفاده‌ی مجدد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زنجیره‌ی پنج جعبه: «فایل CSV» ← «محیط» ← «NumPy» ← «Pandas» ← «Matplotlib» ← «پاسخ پرسش‌های ۱ تا ۴».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۰۱ | مرور پایتون و محیط کار   | 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 ۰: فایل خام چه شکلی است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ستون‌ها: time_s، شتاب accel_x/y/z (m/s²)، ژیرو gyro_x/y/z (deg/s)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baro_alt_m، airspeed_mps، temp_c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۱۴٬۹۴۰ سطر × ۱۰ ستون، حدود ۱ مگابایت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یکای هر کمیت در نام ستون آمده است: یک قرارداد، نه اتفاق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سه سطر نخست فایل CSV در قالب کد: time_s,accel_x_mps2,...,temp_c / 0.0,-0.052,0.0375,9.8537,...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۰۱ | مرور پایتون و محیط کار   | 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چرا محیط ایزوله؟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«روی سیستم من کار می‌کند» نتیجه‌ی علمی نیست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برای هر پروژه یک محیط، با نسخه‌های تثبیت‌شده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conda: پایتون به‌همراه کتابخانه‌های کامپایل‌شده (بعدها PyTorch)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venv و pip: داخلی و سبک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فایل‌های environment.yml و requirements.txt همان «دستور پخت» هستند</a:t>
            </a:r>
          </a:p>
        </p:txBody>
      </p:sp>
      <p:pic>
        <p:nvPicPr>
          <p:cNvPr id="5" name="Picture 4" descr="fig_environment_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26425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۰۱ | مرور پایتون و محیط کار   | 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دستورهای لازم این هفته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conda create -n aero-ai python=3.11 و سپس conda activate aero-ai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python -m venv .venv، فعال‌سازی، pip install -r requirements.txt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jupyter lab (اجرای سلول: Shift+Enter؛ Restart &amp; Run All)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git clone / switch -c / add / commit / push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پیش از هر commit دستور git status را اجرا کنید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برگه‌ی تقلب دوستونه: راست «conda / venv / jupyter»، چپ «git»؛ دستور git status برجسته شود.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۰۱ | مرور پایتون و محیط کار   | 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مثال: نخستین محیط و نخستین commit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conda env create -f environment.yml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jupyter lab و باز کردن notebooks/week01/week01_python_env.ipynb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اجرای سلول بررسی نسخه‌ها: همه «ok» هستند؟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git switch -c week01-yourname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git add، سپس commit -m "Week 1: environment ok" و push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جای تصویر خروجی سلول بررسی نسخه با چهار سطر «ok».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۰۱ | مرور پایتون و محیط کار   | 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NumPy: آرایه، شکل و محور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ndarray: یک بلوک پیوسته از اعداد با یک نوع داده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accel.shape = (N, 3): سطرها نمونه‌ها، ستون‌ها مؤلفه‌های x، y، z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axis=0 روی نمونه‌ها و axis=1 روی مؤلفه‌ها جمع می‌کند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برداری‌سازی: np.sqrt(np.sum(a**2, axis=1)) حدود ۱۰ برابر سریع‌تر از حلقه</a:t>
            </a:r>
          </a:p>
        </p:txBody>
      </p:sp>
      <p:pic>
        <p:nvPicPr>
          <p:cNvPr id="5" name="Picture 4" descr="fig_axis_broadca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23228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۰۱ | مرور پایتون و محیط کار   | 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انتشار (broadcasting) و ماسک بولی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(4, 3) − (3,) → (4, 3): ابعاد انتهایی هم‌تراز می‌شوند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حذف بایاس هر محور IMU: a − a.mean(axis=0)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ماسک: on_ground = t &lt; 25 و سپس df.loc[on_ground]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ماسک‌ها جایگزین if درون حلقه‌ها می‌شوند</a:t>
            </a:r>
          </a:p>
        </p:txBody>
      </p:sp>
      <p:pic>
        <p:nvPicPr>
          <p:cNvPr id="5" name="Picture 4" descr="fig_axis_broadca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23228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۰۱ | مرور پایتون و محیط کار   | 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 ۱: آمار نویز با دست (ddof)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x = [0.2, −0.4, 0.1, 0.5, −0.4] deg/s و میانگین = ۰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مجموع مربعات انحراف Σ(x − x̄)² = 0.62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انحراف معیار جامعه σ = √(0.62/5) = 0.352 (پیش‌فرض np.std)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انحراف معیار نمونه s = √(0.62/4) = 0.394 (پیش‌فرض pandas)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همیشه ddof را صریح بنویسید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جدول دوسطری: «تقسیم بر N ← ۰٫۳۵۲ (NumPy)» و «تقسیم بر N−1 ← ۰٫۳۹۴ (Pandas)»، با برجسته‌کردن اختلاف ۱۲ درصدی.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۰۱ | مرور پایتون و محیط کار   | 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ضریب بار از روی شتاب‌سنج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شتاب‌سنج نیروی ویژه f را می‌سنجد (نه گرانش را)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n = ‖f‖ / g₀ با g₀ = 9.80665 m/s²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در دور هماهنگ تراز: n = 1 / cos φ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بانک ۳۰ درجه ← ۱٫۱۵۵g؛ بانک ۶۰ درجه ← ۲٫۰g</a:t>
            </a:r>
          </a:p>
        </p:txBody>
      </p:sp>
      <p:pic>
        <p:nvPicPr>
          <p:cNvPr id="5" name="Picture 4" descr="fig_banked_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938" y="1371600"/>
            <a:ext cx="4729339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۰۱ | مرور پایتون و محیط کار   | 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Pandas: نخستین نگاه به هر داده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df = pd.read_csv(path)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df.head(): آیا داده درست به نظر می‌رسد؟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df.info(): نوع داده‌ها و تعداد مقادیر غیرتهی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df.describe().T: تعداد، میانگین، انحراف معیار، کمینه، چارک‌ها، بیشینه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تعداد و بیشینه را مثل یک مهندس بخوانید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جدول describe با دو خانه‌ی علامت‌خورده: count = 14 865 برای baro_alt_m (داده‌ی گمشده) و max = 50.3 m/s² برای accel_z (حدود ۵g؟).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۰۱ | مرور پایتون و محیط کار   | 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 ۲: ضریب بار با دست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f = (1.2, −0.4, 19.6) m/s²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‖f‖² = 1.44 + 0.16 + 384.16 = 385.76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‖f‖ = 19.641 m/s² و n = 19.641 / 9.80665 = 2.003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یک نمونه بالای ۲٫۰g. عبور واقعی از حد یا نه؟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پیکان سه‌بعدی بردار با سه مؤلفه و اندازه‌ی برچسب‌خورده.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۰۱ | مرور پایتون و محیط کار   | 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پرسش ۱: نرخ نمونه‌برداری و شکاف‌ها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dt = t.diff() و fs = 1 / median(dt) = 50 Hz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میانه، نه میانگین: یک شکاف میانگین را خراب می‌کند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فرکانس نایکوئیست = fs / 2 = 25 Hz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شکاف: dt &gt; 1.5 × گام اسمی؛ گام ۱٫۲۲ ثانیه = ۶۰ نمونه‌ی گمشده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۰٫۵ درصد NaN در بارومتر و سرعت هوایی</a:t>
            </a:r>
          </a:p>
        </p:txBody>
      </p:sp>
      <p:pic>
        <p:nvPicPr>
          <p:cNvPr id="5" name="Picture 4" descr="fig_gap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12280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۰۱ | مرور پایتون و محیط کار   | 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پرسش ۲: خار یا مانور؟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بیشینه‌ی خام: ۵٫۱۳g در t = 66.68 s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همسایه‌ها: 1.06، 1.06، 5.13، 1.06، 1.06 ← فقط یک نمونه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مانور واقعی چند ثانیه (صدها نمونه) طول می‌کشد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میانه‌ی متحرک ۵ نمونه‌ای خار را حذف و مانور را حفظ می‌کند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بیشینه‌ی فیلترشده ۱٫۸۰g در ثانیه‌ی ۱۹۲ ← عبور از حد رخ نداده است</a:t>
            </a:r>
          </a:p>
        </p:txBody>
      </p:sp>
      <p:pic>
        <p:nvPicPr>
          <p:cNvPr id="5" name="Picture 4" descr="fig_spike_vs_maneu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17111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۰۱ | مرور پایتون و محیط کار   | 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 ۳: میانگین در برابر میانه، و یک شکاف با دست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پنجره‌ی [1.00, 1.01, 5.10, 0.99, 1.00]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میانگین = 9.10 / 5 = 1.82g (خار نفوذ می‌کند)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میانه: مرتب‌سازی ← [0.99, 1.00, 1.00, 1.01, 5.10] ← 1.00g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زمان‌های 99.94، 99.96، 99.98، 101.20 ← 1.22 / 0.02 − 1 = 60 نمونه‌ی گمشده</a:t>
            </a:r>
          </a:p>
        </p:txBody>
      </p:sp>
      <p:pic>
        <p:nvPicPr>
          <p:cNvPr id="5" name="Picture 4" descr="fig_mean_vs_med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12115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۰۱ | مرور پایتون و محیط کار   |   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پرسش ۳ و ۴: نویز و مشتق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در حالت توقف (t &lt; 25 s): انحراف معیار ژیرو حدود ۰٫۳۰ deg/s و بایاس نزدیک صفر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هیستوگرام تقریباً گاوسی ← نویز سفید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مشتق‌گیری نویز را تشدید می‌کند: ±۲۸ m/s در مشتق خام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ابتدا هموارسازی (۲ ثانیه)، سپس مشتق‌گیری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بیشینه‌ی صعود حدود ۱۶ m/s در ثانیه‌ی ۸۴ (مقدار طراحی ۱۵ m/s)</a:t>
            </a:r>
          </a:p>
        </p:txBody>
      </p:sp>
      <p:pic>
        <p:nvPicPr>
          <p:cNvPr id="5" name="Picture 4" descr="fig_climb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178772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۰۱ | مرور پایتون و محیط کار   |   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Matplotlib: نمودارهایی که پاسخ می‌دهند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fig, axes = plt.subplots(4, 1, sharex=True)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هر پنل یک پرسش؛ یکا روی همه‌ی محورها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خط مرجع: ax.axhline(2.0, ls="--")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سایه‌زدن شکاف‌ها: ax.axvspan(start, end)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تابع‌ها Figure را برگردانند؛ نمایش بیرون از تابع</a:t>
            </a:r>
          </a:p>
        </p:txBody>
      </p:sp>
      <p:pic>
        <p:nvPicPr>
          <p:cNvPr id="5" name="Picture 4" descr="fig_gyro_no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15049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۰۱ | مرور پایتون و محیط کار   |   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07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E07A1F"/>
                </a:solidFill>
                <a:latin typeface="Tahoma"/>
                <a:cs typeface="Tahoma"/>
                <a:ea typeface="Tahoma"/>
              </a:rPr>
              <a:t>مثال ۴: مشتق با دست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h = [250.0, 250.3, 250.5] m در t = [80.00, 80.02, 80.04] s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تفاضل مرکزی: (250.5 − 250.0) / 0.04 = 12.5 m/s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نویز بارومتر σ = 0.8 m ← نویز تفاضل √2 · 0.8 = 1.13 m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1.13 m / 0.04 s ≈ ±28 m/s نویز روی سیگنال ۱۵ m/s</a:t>
            </a:r>
          </a:p>
        </p:txBody>
      </p:sp>
      <p:pic>
        <p:nvPicPr>
          <p:cNvPr id="5" name="Picture 4" descr="fig_central_dif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150815" cy="33969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۰۱ | مرور پایتون و محیط کار   |   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از نوت‌بوک به کلاس: FlightLog (پیش‌نمایش)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FlightLog.from_csv(path): سازنده‌ی جایگزین با @classmethod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log.sample_rate_hz: یک @property که هنگام دسترسی محاسبه می‌شود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__slots__، __repr__، نوع‌دهی و docstring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همان پاسخ‌های نوت‌بوک در پنج خط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هفته‌ی ۲: سلسله‌مراتب کلاس Sensor (IMU / LiDAR / GPS)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جعبه‌ی UML «FlightLog» با ویژگی source و متدهای time_gaps، load_factor، robust_load_factor، climb_rate، segment و plot_overview.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۰۱ | مرور پایتون و محیط کار   |   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کارهای این هفته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آزمایشگاه: notebooks/week01/week01_python_env.ipynb (۷ تمرین TODO)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در کلاس: ۴ مسئله‌ی گرم‌کردن (ddof، زاویه‌ی بانک، شکاف‌ها، شکل آرایه‌ها)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تمرین ۰: کنترل کیفیت لاگ پرواز، ۳ تا ۴ ساعت، تحویل هفته‌ی ۲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شاخه‌ی خود را push کنید؛ پیش از تحویل Restart &amp; Run 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سه نماد: نوت‌بوک، مداد، شاخه‌ی گیت.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۰۱ | مرور پایتون و محیط کار   |   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772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3000" b="1" i="0" lang="fa-IR">
                <a:solidFill>
                  <a:srgbClr val="1F3A5F"/>
                </a:solidFill>
                <a:latin typeface="Tahoma"/>
                <a:cs typeface="Tahoma"/>
                <a:ea typeface="Tahoma"/>
              </a:rPr>
              <a:t>آنچه اکنون بلدیم انجام دهیم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82335" y="1371600"/>
            <a:ext cx="58521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ساخت و فعال‌سازی محیط با نسخه‌های تثبیت‌شده؛ کنترل نسخه‌ی نوت‌بوک با گیت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بارگذاری CSV حسگر و خواندن describe مثل یک مهندس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یافتن نرخ نمونه‌برداری واقعی، شکاف‌ها و مقادیر گمشده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جدا کردن خار حسگر از مانور واقعی</a:t>
            </a:r>
          </a:p>
          <a:p>
            <a:pPr algn="r" rtl="1">
              <a:spcAft>
                <a:spcPts val="1000"/>
              </a:spcAft>
            </a:pPr>
            <a:r>
              <a:rPr sz="2000" b="0" i="0" lang="fa-IR">
                <a:solidFill>
                  <a:srgbClr val="262626"/>
                </a:solidFill>
                <a:latin typeface="Tahoma"/>
                <a:cs typeface="Tahoma"/>
                <a:ea typeface="Tahoma"/>
              </a:rPr>
              <a:t>• تخمین نویز و مشتق از داده‌ی نویزی و رسم پاسخ‌ها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5150815" cy="4846320"/>
          </a:xfrm>
          <a:prstGeom prst="roundRect">
            <a:avLst/>
          </a:prstGeom>
          <a:solidFill>
            <a:srgbClr val="F2F2F2"/>
          </a:solidFill>
          <a:ln>
            <a:solidFill>
              <a:srgbClr val="5959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1600" b="0" i="1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تصویر: چهار پرسش اسلاید ۱، هر کدام با تیک سبز و پاسخ عددی‌اش.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spcAft>
                <a:spcPts val="1000"/>
              </a:spcAft>
            </a:pPr>
            <a:r>
              <a:rPr sz="1100" b="0" i="0" lang="fa-IR">
                <a:solidFill>
                  <a:srgbClr val="595959"/>
                </a:solidFill>
                <a:latin typeface="Tahoma"/>
                <a:cs typeface="Tahoma"/>
                <a:ea typeface="Tahoma"/>
              </a:rPr>
              <a:t>هفته‌ی ۰۱ | مرور پایتون و محیط کار   |  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