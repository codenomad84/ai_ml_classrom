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بخش ۰ آزمایشگاه را زنده اجرا کنید. روی اجرای ۳ نشان دهید: صفر وقتی دیوار دورتر از ۱۲ متر است، یک پژواک گردوغبار، جهش‌های شتاب‌سنج و ژیروسکوپ یخ‌زده. پرسش پایانی را روی تخته بنویسید و تا اسلاید آخر نگه دارید.</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بسط‌یافته از ارائه‌ی مدرس (اسلایدهای ۲ تا ۸ که مدرس از وبلاگ فرادرس اقتباس کرده است): اسلاید ۳ آن می‌گوید روش‌های کلاسیک را «نمی‌توان به‌طور مستقیم بر روی داده‌های خام نظیر فایل‌های CSV» اعمال کرد و گام پیش‌پردازش لازم است. درخت تصمیم (اسلایدهای ۹ تا ۱۱ ارائه) در هفته‌ی ۷ برمی‌گردد؛ یادداشت کنید که درخت‌ها به مقیاس‌بندی ویژگی نیاز ندارند.</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از کلاس بپرسید کدام عدد را در مقاله گزارش می‌کردند. سپس بگویید دو عدد ساده‌لوحانه حتی صادق هم نیستند: تقسیم تصادفی نشت دارد (اسلاید ۱۸). این جدول را نگه دارید؛ در اسلاید ۲۱ به آن برمی‌گردیم.</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W3Schools در «Pandas - Cleaning Data» چهار نوع داده‌ی بد را برمی‌شمارد: خانه‌ی خالی، قالب نادرست، داده‌ی نادرست و تکراری. لاگ حسگر دو نوع دیگر دارد: مقدار نگهبان (عددی که یعنی «عدد نداریم») و مقدار یخ‌زده. تمرین ۱.۱ با count_duplicate_keys ۲۵ سطر تکراری را می‌شمارد.</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رده‌های خطای LiDAR از مدل پرتو در Thrun، Burgard و Fox, Probabilistic Robotics, Sec. 6.3 آمده است: خوانش بیشینه‌ی برد، اندازه‌گیری تصادفی و خوانش کوتاه. لاگ مصنوعی هر نقص را با تعداد معلوم تزریق می‌کند تا هر گام پاک‌سازی دقیقاً قابل بررسی باشد.</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جایگذار دیواری در ۶ متری می‌سازد که وجود ندارد. اطلاعات واقعی «دورتر از ۱۲ متر» است: آن را به‌صورت ستون نشانگر نگه دارید یا دامنه‌ی مدل را به برد حسگر محدود کنید. مسئله‌ی ۲ کلاس همین ایده را با حسگر دمای اشباع‌شونده تکرار می‌کند.</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تعریف‌ها از Little و Rubin, Ch. 1، به خلاصه‌ی GeeksforGeeks در «Handling Missing Values in Machine Learning». در لاگ ربات، صفرهای ابتدایی LiDAR از نوع MNAR و صفرهای پراکنده از نوع MCAR هستند؛ وظیفه‌ی ۱ تکلیف ۲ آن‌ها را جدا می‌شمارد (۴۸۲ و ۵۰).</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GeeksforGeeks حذف، جایگذاری میانگین/میانه/مد، پرکردن رو به جلو/عقب و درون‌یابی را فهرست می‌کند. جایگذارها عددی را می‌آموزند، پس روی بخش آموزش برازش می‌شوند (اسلاید ۱۶). MarkInvalid ابتدا مقدار نگهبان را به NaN تبدیل می‌کند تا هر راه‌حل «نامعلوم» ببیند نه «صفر متر».</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با ۱۰ هرتز و سرعت کمتر از 2.2 m/s، شکاف 0.5 ثانیه‌ای چند سانتی‌متر بیشتر خطا ندارد، مگر ربات درون شکاف ترمز کند. FillGaps ستون زمان را محور طول می‌گیرد و نمونه‌برداری نامنظم را هم پوشش می‌دهد. مثال حل‌شده‌ی ۲ آزمایشگاه.</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Samuelson, JASA 63 (1968) برای انحراف معیار جامعه؛ با انحراف معیار نمونه کران (n − 1)/√n است (Shiffler, 1988). GeeksforGeeks در «Detect and Remove the Outliers using Python» قاعده‌های z و IQR را آموزش می‌دهد؛ این اسلاید نشان می‌دهد اولی کی نمی‌تواند کار کند. تمرین ۳.۱ آزمایشگاه.</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پژواک گردوغبار 1.2 متری وقتی دیوار در ۸ متری است، به‌خودی‌خود فاصله‌ای معتبر است؛ فقط همسایه‌ها نشان می‌دهند غلط است. مرحله‌ی Hampel نمونه‌های نویزی را هم حدود ۴ سانتی‌متر (فاصله) و 0.3 m/s² (شتاب) جابه‌جا می‌کند: در برابر آنچه حذف می‌کند کوچک است، اما گزارشش کنید.</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مسئله‌ی ۱ کلاس. روی خودرو، پنجره‌ی متقارن 0.3 ثانیه تأخیر دارد؛ پنجره‌ی پسرو تأخیر ندارد اما دیرتر واکنش نشان می‌دهد. بپرسید: کنترل‌گر ترمز کدام را ترجیح می‌دهد؟</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PerGroup مرحله‌های آموختنی را نمی‌پذیرد (مقیاس‌گذار جداگانه برای هر اجرا یعنی مدلی دیگر) و با پیکربندی JSON هفته‌ی ۳ رفت‌وبرگشت دارد. همان ایده‌ی هفته‌ی ۴: رفتار را با پیچیدن گسترش دهید، نه با ویرایش HampelFilter یا FillGaps.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تابع aerospace_ai.datasets.rover_cleaning_pipeline؛ بارگذار کارخانه‌ای rover_range_forecast (الگوی Factory هفته‌ی ۴) آن را اجرا می‌کند و Datasetی برمی‌گرداند که groups آن شماره‌ی اجراست. بیشتر ۶۴۹ سطر حذف‌شده ابتدای MNAR هر اجراست: دامنه‌ی مدل «دیوار در برد حسگر» است.</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هفته‌ی ۴ نشان داد k-NN بدون مقیاس روی جریان سوخت از مدل پایه‌ی میانگین بدتر است. مدل‌های فاصله‌محور (k-NN، SVM با هسته‌ی RBF، K-Means در هفته‌ی ۸) و کاهش گرادیان به مقیاس‌بندی نیاز دارند؛ درخت‌ها نه (هفته‌ی ۷).</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W3Schools در «ML Scaling» امتیاز z را معرفی می‌کند و GeeksforGeeks در «Data Leakage» این قاعده را بیان می‌کند. تمرین ۵.۱ آزمایشگاه: میانه‌ی آموزش 5.076 m در برابر 5.188 m از همه‌ی سطرها. مسئله‌ی ۴ کلاس ملایم‌ترین شکل نشت را نشان می‌دهد: مقدار آزمون ۱۲ متر به‌جای z = 2.12 مثل z = 1.61 دیده می‌شود.</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علت‌ها با بازنویسی از GeeksforGeeks «Data Leakage»: تقسیم نادرست، پیش‌پردازش پیش از تقسیم، ویژگی‌هایی که هنگام پیش‌بینی در دسترس نیستند و خطای خط لوله. مسئله‌ی ۳ کلاس پنج نشت را در پنج خط کد پیدا می‌کند.</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اگر k را روی تقسیم تصادفی تنظیم می‌کردیم، 0.32 m گزارش می‌دادیم و 0.64 m تحویل. مدل خطی چهار پارامتر دارد و نمی‌تواند همسایه‌ها را حفظ کند، پس تقریباً متوجه نمی‌شود. check_split سطرهای مشترک، اجراهای مشترک و نزدیک‌ترین فاصله‌ی آموزش و آزمون را در برابر افق گزارش می‌دهد. تمرین ۶.۱ آزمایشگاه.</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اعتبارسنجی بلوکی و گروهی برای داده‌ی خودهمبسته: Roberts et al., Ecography 40 (2017). حذف سطرهایی که هدفشان با دوره‌ی آزمون هم‌پوشانی دارد: Lopez de Prado (2018), Ch. 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DataPipeline هفته‌ی ۳ از قبل fit و transform را جدا می‌کرد؛ هفته‌ی ۵ انضباطِ «هر فراخوانی کجا انجام شود» را اضافه می‌کند. همین ترتیب برای همه‌ی مدل‌های بخش‌های ۱ و ۲ برقرار است.</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به پرسش آغازین برگردید: هیچ چیز در مدل عوض نشد؛ فقط مهندسی داده. بخش ۷ آزمایشگاه. وزن نرخ گردش نزدیک صفر است: ویژگی ضعیفی است و به همین دلیل جایگذاری میانه برای بخش‌های یخ‌زده‌ی آن پذیرفتنی است.</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تکلیف ۲ یک آشکارساز حسگر یخ‌زده، یک برش‌دهنده‌ی آموختنی توکی و تابع prepare() بدون نشت را روی لاگی با بذر ۵۲ اضافه می‌کند. اعداد مورد انتظار در README آن است: ۱۹۱۹ سطر تمیز، اجراهای ۱۳ تا ۱۶ برای آزمون، RMSE خطی 0.109 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به پرسش آغازین برگردید: بین CSV و مدل یک ممیزی، پاک‌سازی بدون حالت برای هر اجرا، تقسیم بر اساس اجرا و مرحله‌های آموختنی برازش‌شده فقط روی آموزش قرار دارد.</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011680"/>
            <a:ext cx="12191695" cy="21945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77295" cy="1005840"/>
          </a:xfrm>
          <a:prstGeom prst="rect">
            <a:avLst/>
          </a:prstGeom>
          <a:noFill/>
        </p:spPr>
        <p:txBody>
          <a:bodyPr wrap="square">
            <a:spAutoFit/>
          </a:bodyPr>
          <a:lstStyle/>
          <a:p>
            <a:pPr algn="r" rtl="1">
              <a:spcAft>
                <a:spcPts val="1000"/>
              </a:spcAft>
            </a:pPr>
            <a:r>
              <a:rPr sz="4000" b="1" i="0" lang="fa-IR">
                <a:solidFill>
                  <a:srgbClr val="FFFFFF"/>
                </a:solidFill>
                <a:latin typeface="Tahoma"/>
                <a:cs typeface="Tahoma"/>
                <a:ea typeface="Tahoma"/>
              </a:rPr>
              <a:t>هفته‌ی ۵: مهندسی داده برای داده‌های حسگر نویزی</a:t>
            </a:r>
          </a:p>
        </p:txBody>
      </p:sp>
      <p:sp>
        <p:nvSpPr>
          <p:cNvPr id="4" name="TextBox 3"/>
          <p:cNvSpPr txBox="1"/>
          <p:nvPr/>
        </p:nvSpPr>
        <p:spPr>
          <a:xfrm>
            <a:off x="457200" y="3200400"/>
            <a:ext cx="11277295" cy="731520"/>
          </a:xfrm>
          <a:prstGeom prst="rect">
            <a:avLst/>
          </a:prstGeom>
          <a:noFill/>
        </p:spPr>
        <p:txBody>
          <a:bodyPr wrap="square">
            <a:spAutoFit/>
          </a:bodyPr>
          <a:lstStyle/>
          <a:p>
            <a:pPr algn="r" rtl="1">
              <a:spcAft>
                <a:spcPts val="1000"/>
              </a:spcAft>
            </a:pPr>
            <a:r>
              <a:rPr sz="2400" b="0" i="0" lang="fa-IR">
                <a:solidFill>
                  <a:srgbClr val="FFFFFF"/>
                </a:solidFill>
                <a:latin typeface="Tahoma"/>
                <a:cs typeface="Tahoma"/>
                <a:ea typeface="Tahoma"/>
              </a:rPr>
              <a:t>داده‌ی گمشده، داده‌ی پرت، نرمال‌سازی و تقسیم بدون نشت</a:t>
            </a:r>
          </a:p>
        </p:txBody>
      </p:sp>
      <p:sp>
        <p:nvSpPr>
          <p:cNvPr id="5" name="TextBox 4"/>
          <p:cNvSpPr txBox="1"/>
          <p:nvPr/>
        </p:nvSpPr>
        <p:spPr>
          <a:xfrm>
            <a:off x="457200" y="4572000"/>
            <a:ext cx="11277295" cy="548640"/>
          </a:xfrm>
          <a:prstGeom prst="rect">
            <a:avLst/>
          </a:prstGeom>
          <a:noFill/>
        </p:spPr>
        <p:txBody>
          <a:bodyPr wrap="square">
            <a:spAutoFit/>
          </a:bodyPr>
          <a:lstStyle/>
          <a:p>
            <a:pPr algn="r" rtl="1">
              <a:spcAft>
                <a:spcPts val="1000"/>
              </a:spcAft>
            </a:pPr>
            <a:r>
              <a:rPr sz="2000" b="0" i="0" lang="fa-IR">
                <a:solidFill>
                  <a:srgbClr val="1F3A5F"/>
                </a:solidFill>
                <a:latin typeface="Tahoma"/>
                <a:cs typeface="Tahoma"/>
                <a:ea typeface="Tahoma"/>
              </a:rPr>
              <a:t>هوش مصنوعی برای مهندسی هوافضا و مکانیک (دکتری)</a:t>
            </a:r>
          </a:p>
        </p:txBody>
      </p:sp>
      <p:sp>
        <p:nvSpPr>
          <p:cNvPr id="6" name="TextBox 5"/>
          <p:cNvSpPr txBox="1"/>
          <p:nvPr/>
        </p:nvSpPr>
        <p:spPr>
          <a:xfrm>
            <a:off x="457200" y="5669280"/>
            <a:ext cx="11277295" cy="822960"/>
          </a:xfrm>
          <a:prstGeom prst="rect">
            <a:avLst/>
          </a:prstGeom>
          <a:noFill/>
        </p:spPr>
        <p:txBody>
          <a:bodyPr wrap="square">
            <a:spAutoFit/>
          </a:bodyPr>
          <a:lstStyle/>
          <a:p>
            <a:pPr algn="r" rtl="1">
              <a:spcAft>
                <a:spcPts val="1000"/>
              </a:spcAft>
            </a:pPr>
            <a:r>
              <a:rPr sz="1100" b="0" i="1" lang="fa-IR">
                <a:solidFill>
                  <a:srgbClr val="595959"/>
                </a:solidFill>
                <a:latin typeface="Tahoma"/>
                <a:cs typeface="Tahoma"/>
                <a:ea typeface="Tahoma"/>
              </a:rPr>
              <a:t>بخشی بسط‌یافته از جزوه‌ی مدرس: اسلایدهای ۲ و ۳ اسلایدهای ۲ تا ۸ ارائه‌ی مدرس «یادگیری ماشین و درختان تصمیم‌گیری» را بسط می‌دهند (هوش مصنوعی، یادگیری ماشین و یادگیری عمیق؛ استخراج ویژگی؛ نیاز روش‌های کلاسیک به پیش‌پردازش؛ دسته‌بندی، خوشه‌بندی، رگرسیون). بقیه محتوای جدید است: سازوکارهای گمشدگی از Little و Rubin, Statistical Analysis with Missing Data (2019), Ch. 1؛ پاک‌سازی، جایگذاری، داده‌ی پرت، مقیاس‌بندی و نشت داده با بازنویسی از W3Schools (Pandas - Cleaning Data، ML Scaling، ML Train/Test) و GeeksforGeeks (Handling Missing Values in Machine Learning، Detect and Remove the Outliers using Python، Data Leakage)؛ انواع خطای LiDAR از Thrun، Burgard و Fox, Probabilistic Robotics (2005), Sec. 6.3؛ کران امتیاز z از Samuelson, JASA 63 (1968)؛ فیلتر Hampel از Pearson (2002)؛ اعتبارسنجی بلوکی از Roberts et al., Ecography 40 (2017).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r" rtl="1">
              <a:spcAft>
                <a:spcPts val="1000"/>
              </a:spcAft>
            </a:pPr>
            <a:r>
              <a:rPr sz="3000" b="1" i="0" lang="fa-IR">
                <a:solidFill>
                  <a:srgbClr val="1F3A5F"/>
                </a:solidFill>
                <a:latin typeface="Tahoma"/>
                <a:cs typeface="Tahoma"/>
                <a:ea typeface="Tahoma"/>
              </a:rPr>
              <a:t>کنترل‌گر ترمزی که به لاگ خام اعتماد می‌کند</a:t>
            </a:r>
          </a:p>
        </p:txBody>
      </p:sp>
      <p:sp>
        <p:nvSpPr>
          <p:cNvPr id="4" name="TextBox 3"/>
          <p:cNvSpPr txBox="1"/>
          <p:nvPr/>
        </p:nvSpPr>
        <p:spPr>
          <a:xfrm>
            <a:off x="5882335" y="1371600"/>
            <a:ext cx="5852160" cy="4846320"/>
          </a:xfrm>
          <a:prstGeom prst="rect">
            <a:avLst/>
          </a:prstGeom>
          <a:noFill/>
        </p:spPr>
        <p:txBody>
          <a:bodyPr wrap="square">
            <a:spAutoFit/>
          </a:bodyPr>
          <a:lstStyle/>
          <a:p>
            <a:pPr algn="r" rtl="1">
              <a:spcAft>
                <a:spcPts val="1000"/>
              </a:spcAft>
            </a:pPr>
            <a:r>
              <a:rPr sz="2000" b="0" i="0" lang="fa-IR">
                <a:solidFill>
                  <a:srgbClr val="262626"/>
                </a:solidFill>
                <a:latin typeface="Tahoma"/>
                <a:cs typeface="Tahoma"/>
                <a:ea typeface="Tahoma"/>
              </a:rPr>
              <a:t>• مسئله: پیش‌بینی فاصله تا دیوار در یک ثانیه‌ی بعد (ماژول M3 پروژه)</a:t>
            </a:r>
          </a:p>
          <a:p>
            <a:pPr algn="r" rtl="1">
              <a:spcAft>
                <a:spcPts val="1000"/>
              </a:spcAft>
            </a:pPr>
            <a:r>
              <a:rPr sz="2000" b="0" i="0" lang="fa-IR">
                <a:solidFill>
                  <a:srgbClr val="262626"/>
                </a:solidFill>
                <a:latin typeface="Tahoma"/>
                <a:cs typeface="Tahoma"/>
                <a:ea typeface="Tahoma"/>
              </a:rPr>
              <a:t>• ۱۶ آزمون رانندگی با ۱۰ هرتز: فاصله‌ی LiDAR، سرعت چرخ، شتاب، نرخ گردش</a:t>
            </a:r>
          </a:p>
          <a:p>
            <a:pPr algn="r" rtl="1">
              <a:spcAft>
                <a:spcPts val="1000"/>
              </a:spcAft>
            </a:pPr>
            <a:r>
              <a:rPr sz="2000" b="0" i="0" lang="fa-IR">
                <a:solidFill>
                  <a:srgbClr val="262626"/>
                </a:solidFill>
                <a:latin typeface="Tahoma"/>
                <a:cs typeface="Tahoma"/>
                <a:ea typeface="Tahoma"/>
              </a:rPr>
              <a:t>• مسیر ساده‌لوحانه: خواندن CSV، جابه‌جایی، حذف NaN، تقسیم تصادفی، برازش</a:t>
            </a:r>
          </a:p>
          <a:p>
            <a:pPr algn="r" rtl="1">
              <a:spcAft>
                <a:spcPts val="1000"/>
              </a:spcAft>
            </a:pPr>
            <a:r>
              <a:rPr sz="2000" b="0" i="0" lang="fa-IR">
                <a:solidFill>
                  <a:srgbClr val="262626"/>
                </a:solidFill>
                <a:latin typeface="Tahoma"/>
                <a:cs typeface="Tahoma"/>
                <a:ea typeface="Tahoma"/>
              </a:rPr>
              <a:t>• مدل خطی: خطای 2.73 m برای فاصله‌ی توقف یک‌متری</a:t>
            </a:r>
          </a:p>
          <a:p>
            <a:pPr algn="r" rtl="1">
              <a:spcAft>
                <a:spcPts val="1000"/>
              </a:spcAft>
            </a:pPr>
            <a:r>
              <a:rPr sz="2000" b="0" i="0" lang="fa-IR">
                <a:solidFill>
                  <a:srgbClr val="262626"/>
                </a:solidFill>
                <a:latin typeface="Tahoma"/>
                <a:cs typeface="Tahoma"/>
                <a:ea typeface="Tahoma"/>
              </a:rPr>
              <a:t>• پرسش: بین فایل CSV و مدل چه باید اتفاق بیفتد؟</a:t>
            </a:r>
          </a:p>
        </p:txBody>
      </p:sp>
      <p:pic>
        <p:nvPicPr>
          <p:cNvPr id="5" name="Picture 4" descr="fig_raw_vs_truth.png"/>
          <p:cNvPicPr>
            <a:picLocks noChangeAspect="1"/>
          </p:cNvPicPr>
          <p:nvPr/>
        </p:nvPicPr>
        <p:blipFill>
          <a:blip r:embed="rId2"/>
          <a:stretch>
            <a:fillRect/>
          </a:stretch>
        </p:blipFill>
        <p:spPr>
          <a:xfrm>
            <a:off x="457200" y="1371600"/>
            <a:ext cx="5150815" cy="3765261"/>
          </a:xfrm>
          <a:prstGeom prst="rect">
            <a:avLst/>
          </a:prstGeom>
        </p:spPr>
      </p:pic>
      <p:sp>
        <p:nvSpPr>
          <p:cNvPr id="6" name="TextBox 5"/>
          <p:cNvSpPr txBox="1"/>
          <p:nvPr/>
        </p:nvSpPr>
        <p:spPr>
          <a:xfrm>
            <a:off x="457200" y="6400800"/>
            <a:ext cx="11277295" cy="365760"/>
          </a:xfrm>
          <a:prstGeom prst="rect">
            <a:avLst/>
          </a:prstGeom>
          <a:noFill/>
        </p:spPr>
        <p:txBody>
          <a:bodyPr wrap="square">
            <a:spAutoFit/>
          </a:bodyPr>
          <a:lstStyle/>
          <a:p>
            <a:pPr algn="r" rtl="1">
              <a:spcAft>
                <a:spcPts val="1000"/>
              </a:spcAft>
            </a:pPr>
            <a:r>
              <a:rPr sz="1100" b="0" i="0" lang="fa-IR">
                <a:solidFill>
                  <a:srgbClr val="595959"/>
                </a:solidFill>
                <a:latin typeface="Tahoma"/>
                <a:cs typeface="Tahoma"/>
                <a:ea typeface="Tahoma"/>
              </a:rPr>
              <a:t>هفته‌ی ۰۵ | مهندسی داده   |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r" rtl="1">
              <a:spcAft>
                <a:spcPts val="1000"/>
              </a:spcAft>
            </a:pPr>
            <a:r>
              <a:rPr sz="3000" b="1" i="0" lang="fa-IR">
                <a:solidFill>
                  <a:srgbClr val="1F3A5F"/>
                </a:solidFill>
                <a:latin typeface="Tahoma"/>
                <a:cs typeface="Tahoma"/>
                <a:ea typeface="Tahoma"/>
              </a:rPr>
              <a:t>جایگاه مهندسی داده در یادگیری ماشین</a:t>
            </a:r>
          </a:p>
        </p:txBody>
      </p:sp>
      <p:sp>
        <p:nvSpPr>
          <p:cNvPr id="4" name="TextBox 3"/>
          <p:cNvSpPr txBox="1"/>
          <p:nvPr/>
        </p:nvSpPr>
        <p:spPr>
          <a:xfrm>
            <a:off x="5882335" y="1371600"/>
            <a:ext cx="5852160" cy="4846320"/>
          </a:xfrm>
          <a:prstGeom prst="rect">
            <a:avLst/>
          </a:prstGeom>
          <a:noFill/>
        </p:spPr>
        <p:txBody>
          <a:bodyPr wrap="square">
            <a:spAutoFit/>
          </a:bodyPr>
          <a:lstStyle/>
          <a:p>
            <a:pPr algn="r" rtl="1">
              <a:spcAft>
                <a:spcPts val="1000"/>
              </a:spcAft>
            </a:pPr>
            <a:r>
              <a:rPr sz="2000" b="0" i="0" lang="fa-IR">
                <a:solidFill>
                  <a:srgbClr val="262626"/>
                </a:solidFill>
                <a:latin typeface="Tahoma"/>
                <a:cs typeface="Tahoma"/>
                <a:ea typeface="Tahoma"/>
              </a:rPr>
              <a:t>• هوش مصنوعی ⊃ یادگیری ماشین ⊃ یادگیری عمیق (ارائه‌ی مدرس، اسلاید ۲)</a:t>
            </a:r>
          </a:p>
          <a:p>
            <a:pPr algn="r" rtl="1">
              <a:spcAft>
                <a:spcPts val="1000"/>
              </a:spcAft>
            </a:pPr>
            <a:r>
              <a:rPr sz="2000" b="0" i="0" lang="fa-IR">
                <a:solidFill>
                  <a:srgbClr val="262626"/>
                </a:solidFill>
                <a:latin typeface="Tahoma"/>
                <a:cs typeface="Tahoma"/>
                <a:ea typeface="Tahoma"/>
              </a:rPr>
              <a:t>• روش‌های کلاسیک (درخت تصمیم، SVM، بیز ساده، رگرسیون لجستیک) ویژگی می‌خواهند، نه فایل خام</a:t>
            </a:r>
          </a:p>
          <a:p>
            <a:pPr algn="r" rtl="1">
              <a:spcAft>
                <a:spcPts val="1000"/>
              </a:spcAft>
            </a:pPr>
            <a:r>
              <a:rPr sz="2000" b="0" i="0" lang="fa-IR">
                <a:solidFill>
                  <a:srgbClr val="262626"/>
                </a:solidFill>
                <a:latin typeface="Tahoma"/>
                <a:cs typeface="Tahoma"/>
                <a:ea typeface="Tahoma"/>
              </a:rPr>
              <a:t>• یادگیری عمیق ویژگی را خودش می‌آموزد، ولی باز هم داده‌ی تمیز و صادق می‌خواهد</a:t>
            </a:r>
          </a:p>
          <a:p>
            <a:pPr algn="r" rtl="1">
              <a:spcAft>
                <a:spcPts val="1000"/>
              </a:spcAft>
            </a:pPr>
            <a:r>
              <a:rPr sz="2000" b="0" i="0" lang="fa-IR">
                <a:solidFill>
                  <a:srgbClr val="262626"/>
                </a:solidFill>
                <a:latin typeface="Tahoma"/>
                <a:cs typeface="Tahoma"/>
                <a:ea typeface="Tahoma"/>
              </a:rPr>
              <a:t>• این هفته: رگرسیون (خروجی پیوسته)، نظارت‌شده (برچسب از خود لاگ)</a:t>
            </a:r>
          </a:p>
          <a:p>
            <a:pPr algn="r" rtl="1">
              <a:spcAft>
                <a:spcPts val="1000"/>
              </a:spcAft>
            </a:pPr>
            <a:r>
              <a:rPr sz="2000" b="0" i="0" lang="fa-IR">
                <a:solidFill>
                  <a:srgbClr val="262626"/>
                </a:solidFill>
                <a:latin typeface="Tahoma"/>
                <a:cs typeface="Tahoma"/>
                <a:ea typeface="Tahoma"/>
              </a:rPr>
              <a:t>• «ورودی بی‌ارزش، خروجی بی‌ارزش» برای هر دو صادق است</a:t>
            </a:r>
          </a:p>
        </p:txBody>
      </p:sp>
      <p:sp>
        <p:nvSpPr>
          <p:cNvPr id="5" name="Rounded Rectangle 4"/>
          <p:cNvSpPr/>
          <p:nvPr/>
        </p:nvSpPr>
        <p:spPr>
          <a:xfrm>
            <a:off x="45720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rtl="1"/>
            <a:r>
              <a:rPr sz="1600" b="0" i="1" lang="fa-IR">
                <a:solidFill>
                  <a:srgbClr val="595959"/>
                </a:solidFill>
                <a:latin typeface="Tahoma"/>
                <a:cs typeface="Tahoma"/>
                <a:ea typeface="Tahoma"/>
              </a:rPr>
              <a:t>تصویر: در چپ دایره‌های تودرتوی AI ⊃ ML ⊃ DL؛ در راست زنجیره‌ی لاگ خام ← پاک‌سازی ← ویژگی ← مدل ← تصمیم، و برچسب «این هفته» روی دو پیکان اول.</a:t>
            </a:r>
          </a:p>
        </p:txBody>
      </p:sp>
      <p:sp>
        <p:nvSpPr>
          <p:cNvPr id="6" name="TextBox 5"/>
          <p:cNvSpPr txBox="1"/>
          <p:nvPr/>
        </p:nvSpPr>
        <p:spPr>
          <a:xfrm>
            <a:off x="457200" y="6400800"/>
            <a:ext cx="11277295" cy="365760"/>
          </a:xfrm>
          <a:prstGeom prst="rect">
            <a:avLst/>
          </a:prstGeom>
          <a:noFill/>
        </p:spPr>
        <p:txBody>
          <a:bodyPr wrap="square">
            <a:spAutoFit/>
          </a:bodyPr>
          <a:lstStyle/>
          <a:p>
            <a:pPr algn="r" rtl="1">
              <a:spcAft>
                <a:spcPts val="1000"/>
              </a:spcAft>
            </a:pPr>
            <a:r>
              <a:rPr sz="1100" b="0" i="0" lang="fa-IR">
                <a:solidFill>
                  <a:srgbClr val="595959"/>
                </a:solidFill>
                <a:latin typeface="Tahoma"/>
                <a:cs typeface="Tahoma"/>
                <a:ea typeface="Tahoma"/>
              </a:rPr>
              <a:t>هفته‌ی ۰۵ | مهندسی داده   |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r" rtl="1">
              <a:spcAft>
                <a:spcPts val="1000"/>
              </a:spcAft>
            </a:pPr>
            <a:r>
              <a:rPr sz="3000" b="1" i="0" lang="fa-IR">
                <a:solidFill>
                  <a:srgbClr val="E07A1F"/>
                </a:solidFill>
                <a:latin typeface="Tahoma"/>
                <a:cs typeface="Tahoma"/>
                <a:ea typeface="Tahoma"/>
              </a:rPr>
              <a:t>مثال ۱: مسیر ساده‌لوحانه کجا اشتباه کرد</a:t>
            </a:r>
          </a:p>
        </p:txBody>
      </p:sp>
      <p:sp>
        <p:nvSpPr>
          <p:cNvPr id="4" name="TextBox 3"/>
          <p:cNvSpPr txBox="1"/>
          <p:nvPr/>
        </p:nvSpPr>
        <p:spPr>
          <a:xfrm>
            <a:off x="5882335" y="1371600"/>
            <a:ext cx="5852160" cy="4846320"/>
          </a:xfrm>
          <a:prstGeom prst="rect">
            <a:avLst/>
          </a:prstGeom>
          <a:noFill/>
        </p:spPr>
        <p:txBody>
          <a:bodyPr wrap="square">
            <a:spAutoFit/>
          </a:bodyPr>
          <a:lstStyle/>
          <a:p>
            <a:pPr algn="r" rtl="1">
              <a:spcAft>
                <a:spcPts val="1000"/>
              </a:spcAft>
            </a:pPr>
            <a:r>
              <a:rPr sz="2000" b="0" i="0" lang="fa-IR">
                <a:solidFill>
                  <a:srgbClr val="262626"/>
                </a:solidFill>
                <a:latin typeface="Tahoma"/>
                <a:cs typeface="Tahoma"/>
                <a:ea typeface="Tahoma"/>
              </a:rPr>
              <a:t>• تقسیم تصادفی: میانگین 3.89 m، خطی 2.73 m، k-NN 2.29 m</a:t>
            </a:r>
          </a:p>
          <a:p>
            <a:pPr algn="r" rtl="1">
              <a:spcAft>
                <a:spcPts val="1000"/>
              </a:spcAft>
            </a:pPr>
            <a:r>
              <a:rPr sz="2000" b="0" i="0" lang="fa-IR">
                <a:solidFill>
                  <a:srgbClr val="262626"/>
                </a:solidFill>
                <a:latin typeface="Tahoma"/>
                <a:cs typeface="Tahoma"/>
                <a:ea typeface="Tahoma"/>
              </a:rPr>
              <a:t>• ۵۳۳ صفر LiDAR به معنای «دیوار چسبیده به حسگر» خوانده شد</a:t>
            </a:r>
          </a:p>
          <a:p>
            <a:pPr algn="r" rtl="1">
              <a:spcAft>
                <a:spcPts val="1000"/>
              </a:spcAft>
            </a:pPr>
            <a:r>
              <a:rPr sz="2000" b="0" i="0" lang="fa-IR">
                <a:solidFill>
                  <a:srgbClr val="262626"/>
                </a:solidFill>
                <a:latin typeface="Tahoma"/>
                <a:cs typeface="Tahoma"/>
                <a:ea typeface="Tahoma"/>
              </a:rPr>
              <a:t>• هدف ۱۰ سطر آخر هر اجرا از اجرای بعدی آمده است</a:t>
            </a:r>
          </a:p>
          <a:p>
            <a:pPr algn="r" rtl="1">
              <a:spcAft>
                <a:spcPts val="1000"/>
              </a:spcAft>
            </a:pPr>
            <a:r>
              <a:rPr sz="2000" b="0" i="0" lang="fa-IR">
                <a:solidFill>
                  <a:srgbClr val="262626"/>
                </a:solidFill>
                <a:latin typeface="Tahoma"/>
                <a:cs typeface="Tahoma"/>
                <a:ea typeface="Tahoma"/>
              </a:rPr>
              <a:t>• ۲۵ سطر تکراری، ۱۱ جهش تا ±25 m/s² و ژیروسکوپی که ۳ ثانیه یخ زده</a:t>
            </a:r>
          </a:p>
          <a:p>
            <a:pPr algn="r" rtl="1">
              <a:spcAft>
                <a:spcPts val="1000"/>
              </a:spcAft>
            </a:pPr>
            <a:r>
              <a:rPr sz="2000" b="0" i="0" lang="fa-IR">
                <a:solidFill>
                  <a:srgbClr val="262626"/>
                </a:solidFill>
                <a:latin typeface="Tahoma"/>
                <a:cs typeface="Tahoma"/>
                <a:ea typeface="Tahoma"/>
              </a:rPr>
              <a:t>• پس از این جلسه: مدل خطی 0.121 m روی رانندگی‌های دیده‌نشده</a:t>
            </a:r>
          </a:p>
        </p:txBody>
      </p:sp>
      <p:sp>
        <p:nvSpPr>
          <p:cNvPr id="5" name="Rounded Rectangle 4"/>
          <p:cNvSpPr/>
          <p:nvPr/>
        </p:nvSpPr>
        <p:spPr>
          <a:xfrm>
            <a:off x="45720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rtl="1"/>
            <a:r>
              <a:rPr sz="1600" b="0" i="1" lang="fa-IR">
                <a:solidFill>
                  <a:srgbClr val="595959"/>
                </a:solidFill>
                <a:latin typeface="Tahoma"/>
                <a:cs typeface="Tahoma"/>
                <a:ea typeface="Tahoma"/>
              </a:rPr>
              <a:t>تصویر: جدول دوستونی «ساده‌لوحانه» در برابر «تمیز، تقسیم بر اساس اجرا»: میانگین 3.891 / 3.833، خطی 2.734 / 0.121، k-NN 2.285 / 0.641 (متر)، با خانه‌ی 0.121 برجسته.</a:t>
            </a:r>
          </a:p>
        </p:txBody>
      </p:sp>
      <p:sp>
        <p:nvSpPr>
          <p:cNvPr id="6" name="TextBox 5"/>
          <p:cNvSpPr txBox="1"/>
          <p:nvPr/>
        </p:nvSpPr>
        <p:spPr>
          <a:xfrm>
            <a:off x="457200" y="6400800"/>
            <a:ext cx="11277295" cy="365760"/>
          </a:xfrm>
          <a:prstGeom prst="rect">
            <a:avLst/>
          </a:prstGeom>
          <a:noFill/>
        </p:spPr>
        <p:txBody>
          <a:bodyPr wrap="square">
            <a:spAutoFit/>
          </a:bodyPr>
          <a:lstStyle/>
          <a:p>
            <a:pPr algn="r" rtl="1">
              <a:spcAft>
                <a:spcPts val="1000"/>
              </a:spcAft>
            </a:pPr>
            <a:r>
              <a:rPr sz="1100" b="0" i="0" lang="fa-IR">
                <a:solidFill>
                  <a:srgbClr val="595959"/>
                </a:solidFill>
                <a:latin typeface="Tahoma"/>
                <a:cs typeface="Tahoma"/>
                <a:ea typeface="Tahoma"/>
              </a:rPr>
              <a:t>هفته‌ی ۰۵ | مهندسی داده   |   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r" rtl="1">
              <a:spcAft>
                <a:spcPts val="1000"/>
              </a:spcAft>
            </a:pPr>
            <a:r>
              <a:rPr sz="3000" b="1" i="0" lang="fa-IR">
                <a:solidFill>
                  <a:srgbClr val="1F3A5F"/>
                </a:solidFill>
                <a:latin typeface="Tahoma"/>
                <a:cs typeface="Tahoma"/>
                <a:ea typeface="Tahoma"/>
              </a:rPr>
              <a:t>پیش از پاک‌سازی نگاه کنید: ممیزی داده</a:t>
            </a:r>
          </a:p>
        </p:txBody>
      </p:sp>
      <p:sp>
        <p:nvSpPr>
          <p:cNvPr id="4" name="TextBox 3"/>
          <p:cNvSpPr txBox="1"/>
          <p:nvPr/>
        </p:nvSpPr>
        <p:spPr>
          <a:xfrm>
            <a:off x="5882335" y="1371600"/>
            <a:ext cx="5852160" cy="4846320"/>
          </a:xfrm>
          <a:prstGeom prst="rect">
            <a:avLst/>
          </a:prstGeom>
          <a:noFill/>
        </p:spPr>
        <p:txBody>
          <a:bodyPr wrap="square">
            <a:spAutoFit/>
          </a:bodyPr>
          <a:lstStyle/>
          <a:p>
            <a:pPr algn="r" rtl="1">
              <a:spcAft>
                <a:spcPts val="1000"/>
              </a:spcAft>
            </a:pPr>
            <a:r>
              <a:rPr sz="2000" b="0" i="0" lang="fa-IR">
                <a:solidFill>
                  <a:srgbClr val="262626"/>
                </a:solidFill>
                <a:latin typeface="Tahoma"/>
                <a:cs typeface="Tahoma"/>
                <a:ea typeface="Tahoma"/>
              </a:rPr>
              <a:t>• audit_frame تعداد NaN، ±inf و مقدار نگهبان (sentinel) هر ستون را می‌شمارد</a:t>
            </a:r>
          </a:p>
          <a:p>
            <a:pPr algn="r" rtl="1">
              <a:spcAft>
                <a:spcPts val="1000"/>
              </a:spcAft>
            </a:pPr>
            <a:r>
              <a:rPr sz="2000" b="0" i="0" lang="fa-IR">
                <a:solidFill>
                  <a:srgbClr val="262626"/>
                </a:solidFill>
                <a:latin typeface="Tahoma"/>
                <a:cs typeface="Tahoma"/>
                <a:ea typeface="Tahoma"/>
              </a:rPr>
              <a:t>• LiDAR: ۲۱٪ ناکارآمد، ۶۶ صفر پشت‌سرهم در ابتدای یک اجرا</a:t>
            </a:r>
          </a:p>
          <a:p>
            <a:pPr algn="r" rtl="1">
              <a:spcAft>
                <a:spcPts val="1000"/>
              </a:spcAft>
            </a:pPr>
            <a:r>
              <a:rPr sz="2000" b="0" i="0" lang="fa-IR">
                <a:solidFill>
                  <a:srgbClr val="262626"/>
                </a:solidFill>
                <a:latin typeface="Tahoma"/>
                <a:cs typeface="Tahoma"/>
                <a:ea typeface="Tahoma"/>
              </a:rPr>
              <a:t>• سرعت چرخ: ۱۹ NaN در دسته‌های تا ۴ نمونه</a:t>
            </a:r>
          </a:p>
          <a:p>
            <a:pPr algn="r" rtl="1">
              <a:spcAft>
                <a:spcPts val="1000"/>
              </a:spcAft>
            </a:pPr>
            <a:r>
              <a:rPr sz="2000" b="0" i="0" lang="fa-IR">
                <a:solidFill>
                  <a:srgbClr val="262626"/>
                </a:solidFill>
                <a:latin typeface="Tahoma"/>
                <a:cs typeface="Tahoma"/>
                <a:ea typeface="Tahoma"/>
              </a:rPr>
              <a:t>• طولانی‌ترین تکرار: ۳۲ مقدار یکسان ژیروسکوپ (با نویز 0.3 °/s!)</a:t>
            </a:r>
          </a:p>
          <a:p>
            <a:pPr algn="r" rtl="1">
              <a:spcAft>
                <a:spcPts val="1000"/>
              </a:spcAft>
            </a:pPr>
            <a:r>
              <a:rPr sz="2000" b="0" i="0" lang="fa-IR">
                <a:solidFill>
                  <a:srgbClr val="262626"/>
                </a:solidFill>
                <a:latin typeface="Tahoma"/>
                <a:cs typeface="Tahoma"/>
                <a:ea typeface="Tahoma"/>
              </a:rPr>
              <a:t>• تکرار نشانه است نه حکم: ۵۱ صفر یعنی ربات ایستاده است</a:t>
            </a:r>
          </a:p>
        </p:txBody>
      </p:sp>
      <p:pic>
        <p:nvPicPr>
          <p:cNvPr id="5" name="Picture 4" descr="fig_audit.png"/>
          <p:cNvPicPr>
            <a:picLocks noChangeAspect="1"/>
          </p:cNvPicPr>
          <p:nvPr/>
        </p:nvPicPr>
        <p:blipFill>
          <a:blip r:embed="rId2"/>
          <a:stretch>
            <a:fillRect/>
          </a:stretch>
        </p:blipFill>
        <p:spPr>
          <a:xfrm>
            <a:off x="457200" y="1371600"/>
            <a:ext cx="5150815" cy="1757459"/>
          </a:xfrm>
          <a:prstGeom prst="rect">
            <a:avLst/>
          </a:prstGeom>
        </p:spPr>
      </p:pic>
      <p:sp>
        <p:nvSpPr>
          <p:cNvPr id="6" name="TextBox 5"/>
          <p:cNvSpPr txBox="1"/>
          <p:nvPr/>
        </p:nvSpPr>
        <p:spPr>
          <a:xfrm>
            <a:off x="457200" y="6400800"/>
            <a:ext cx="11277295" cy="365760"/>
          </a:xfrm>
          <a:prstGeom prst="rect">
            <a:avLst/>
          </a:prstGeom>
          <a:noFill/>
        </p:spPr>
        <p:txBody>
          <a:bodyPr wrap="square">
            <a:spAutoFit/>
          </a:bodyPr>
          <a:lstStyle/>
          <a:p>
            <a:pPr algn="r" rtl="1">
              <a:spcAft>
                <a:spcPts val="1000"/>
              </a:spcAft>
            </a:pPr>
            <a:r>
              <a:rPr sz="1100" b="0" i="0" lang="fa-IR">
                <a:solidFill>
                  <a:srgbClr val="595959"/>
                </a:solidFill>
                <a:latin typeface="Tahoma"/>
                <a:cs typeface="Tahoma"/>
                <a:ea typeface="Tahoma"/>
              </a:rPr>
              <a:t>هفته‌ی ۰۵ | مهندسی داده   |   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r" rtl="1">
              <a:spcAft>
                <a:spcPts val="1000"/>
              </a:spcAft>
            </a:pPr>
            <a:r>
              <a:rPr sz="3000" b="1" i="0" lang="fa-IR">
                <a:solidFill>
                  <a:srgbClr val="1F3A5F"/>
                </a:solidFill>
                <a:latin typeface="Tahoma"/>
                <a:cs typeface="Tahoma"/>
                <a:ea typeface="Tahoma"/>
              </a:rPr>
              <a:t>رده‌بندی نقص‌های حسگر</a:t>
            </a:r>
          </a:p>
        </p:txBody>
      </p:sp>
      <p:sp>
        <p:nvSpPr>
          <p:cNvPr id="4" name="TextBox 3"/>
          <p:cNvSpPr txBox="1"/>
          <p:nvPr/>
        </p:nvSpPr>
        <p:spPr>
          <a:xfrm>
            <a:off x="5882335" y="1371600"/>
            <a:ext cx="5852160" cy="4846320"/>
          </a:xfrm>
          <a:prstGeom prst="rect">
            <a:avLst/>
          </a:prstGeom>
          <a:noFill/>
        </p:spPr>
        <p:txBody>
          <a:bodyPr wrap="square">
            <a:spAutoFit/>
          </a:bodyPr>
          <a:lstStyle/>
          <a:p>
            <a:pPr algn="r" rtl="1">
              <a:spcAft>
                <a:spcPts val="1000"/>
              </a:spcAft>
            </a:pPr>
            <a:r>
              <a:rPr sz="2000" b="0" i="0" lang="fa-IR">
                <a:solidFill>
                  <a:srgbClr val="262626"/>
                </a:solidFill>
                <a:latin typeface="Tahoma"/>
                <a:cs typeface="Tahoma"/>
                <a:ea typeface="Tahoma"/>
              </a:rPr>
              <a:t>• مقدار نگهبان: 0.0 در LiDAR یعنی «پژواکی نیامد» (نه «صفر متر»)</a:t>
            </a:r>
          </a:p>
          <a:p>
            <a:pPr algn="r" rtl="1">
              <a:spcAft>
                <a:spcPts val="1000"/>
              </a:spcAft>
            </a:pPr>
            <a:r>
              <a:rPr sz="2000" b="0" i="0" lang="fa-IR">
                <a:solidFill>
                  <a:srgbClr val="262626"/>
                </a:solidFill>
                <a:latin typeface="Tahoma"/>
                <a:cs typeface="Tahoma"/>
                <a:ea typeface="Tahoma"/>
              </a:rPr>
              <a:t>• شکاف: دسته‌های NaN از بسته‌های گمشده‌ی CAN</a:t>
            </a:r>
          </a:p>
          <a:p>
            <a:pPr algn="r" rtl="1">
              <a:spcAft>
                <a:spcPts val="1000"/>
              </a:spcAft>
            </a:pPr>
            <a:r>
              <a:rPr sz="2000" b="0" i="0" lang="fa-IR">
                <a:solidFill>
                  <a:srgbClr val="262626"/>
                </a:solidFill>
                <a:latin typeface="Tahoma"/>
                <a:cs typeface="Tahoma"/>
                <a:ea typeface="Tahoma"/>
              </a:rPr>
              <a:t>• داده‌ی پرت: پژواک گردوغبار، اتصال معیوب، جهش 2.5g</a:t>
            </a:r>
          </a:p>
          <a:p>
            <a:pPr algn="r" rtl="1">
              <a:spcAft>
                <a:spcPts val="1000"/>
              </a:spcAft>
            </a:pPr>
            <a:r>
              <a:rPr sz="2000" b="0" i="0" lang="fa-IR">
                <a:solidFill>
                  <a:srgbClr val="262626"/>
                </a:solidFill>
                <a:latin typeface="Tahoma"/>
                <a:cs typeface="Tahoma"/>
                <a:ea typeface="Tahoma"/>
              </a:rPr>
              <a:t>• مقدار یخ‌زده: حسگر آخرین خوانش را تکرار می‌کند</a:t>
            </a:r>
          </a:p>
          <a:p>
            <a:pPr algn="r" rtl="1">
              <a:spcAft>
                <a:spcPts val="1000"/>
              </a:spcAft>
            </a:pPr>
            <a:r>
              <a:rPr sz="2000" b="0" i="0" lang="fa-IR">
                <a:solidFill>
                  <a:srgbClr val="262626"/>
                </a:solidFill>
                <a:latin typeface="Tahoma"/>
                <a:cs typeface="Tahoma"/>
                <a:ea typeface="Tahoma"/>
              </a:rPr>
              <a:t>• تکراری: ثبت‌کننده یک بسته را دوباره می‌فرستد</a:t>
            </a:r>
          </a:p>
        </p:txBody>
      </p:sp>
      <p:sp>
        <p:nvSpPr>
          <p:cNvPr id="5" name="Rounded Rectangle 4"/>
          <p:cNvSpPr/>
          <p:nvPr/>
        </p:nvSpPr>
        <p:spPr>
          <a:xfrm>
            <a:off x="45720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rtl="1"/>
            <a:r>
              <a:rPr sz="1600" b="0" i="1" lang="fa-IR">
                <a:solidFill>
                  <a:srgbClr val="595959"/>
                </a:solidFill>
                <a:latin typeface="Tahoma"/>
                <a:cs typeface="Tahoma"/>
                <a:ea typeface="Tahoma"/>
              </a:rPr>
              <a:t>تصویر: پنج طرح کوچک سری زمانی در یک ردیف، یکی برای هر نقص، و زیر هرکدام ابزار رفع آن: MarkInvalid، FillGaps، HampelFilter، FlagStuck (تکلیف ۲)، SortAndDeduplicate.</a:t>
            </a:r>
          </a:p>
        </p:txBody>
      </p:sp>
      <p:sp>
        <p:nvSpPr>
          <p:cNvPr id="6" name="TextBox 5"/>
          <p:cNvSpPr txBox="1"/>
          <p:nvPr/>
        </p:nvSpPr>
        <p:spPr>
          <a:xfrm>
            <a:off x="457200" y="6400800"/>
            <a:ext cx="11277295" cy="365760"/>
          </a:xfrm>
          <a:prstGeom prst="rect">
            <a:avLst/>
          </a:prstGeom>
          <a:noFill/>
        </p:spPr>
        <p:txBody>
          <a:bodyPr wrap="square">
            <a:spAutoFit/>
          </a:bodyPr>
          <a:lstStyle/>
          <a:p>
            <a:pPr algn="r" rtl="1">
              <a:spcAft>
                <a:spcPts val="1000"/>
              </a:spcAft>
            </a:pPr>
            <a:r>
              <a:rPr sz="1100" b="0" i="0" lang="fa-IR">
                <a:solidFill>
                  <a:srgbClr val="595959"/>
                </a:solidFill>
                <a:latin typeface="Tahoma"/>
                <a:cs typeface="Tahoma"/>
                <a:ea typeface="Tahoma"/>
              </a:rPr>
              <a:t>هفته‌ی ۰۵ | مهندسی داده   |   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r" rtl="1">
              <a:spcAft>
                <a:spcPts val="1000"/>
              </a:spcAft>
            </a:pPr>
            <a:r>
              <a:rPr sz="3000" b="1" i="0" lang="fa-IR">
                <a:solidFill>
                  <a:srgbClr val="E07A1F"/>
                </a:solidFill>
                <a:latin typeface="Tahoma"/>
                <a:cs typeface="Tahoma"/>
                <a:ea typeface="Tahoma"/>
              </a:rPr>
              <a:t>مثال ۲: جایگذاری میانگین در حالت MNAR، با دست</a:t>
            </a:r>
          </a:p>
        </p:txBody>
      </p:sp>
      <p:sp>
        <p:nvSpPr>
          <p:cNvPr id="4" name="TextBox 3"/>
          <p:cNvSpPr txBox="1"/>
          <p:nvPr/>
        </p:nvSpPr>
        <p:spPr>
          <a:xfrm>
            <a:off x="5882335" y="1371600"/>
            <a:ext cx="5852160" cy="4846320"/>
          </a:xfrm>
          <a:prstGeom prst="rect">
            <a:avLst/>
          </a:prstGeom>
          <a:noFill/>
        </p:spPr>
        <p:txBody>
          <a:bodyPr wrap="square">
            <a:spAutoFit/>
          </a:bodyPr>
          <a:lstStyle/>
          <a:p>
            <a:pPr algn="r" rtl="1">
              <a:spcAft>
                <a:spcPts val="1000"/>
              </a:spcAft>
            </a:pPr>
            <a:r>
              <a:rPr sz="2000" b="0" i="0" lang="fa-IR">
                <a:solidFill>
                  <a:srgbClr val="262626"/>
                </a:solidFill>
                <a:latin typeface="Tahoma"/>
                <a:cs typeface="Tahoma"/>
                <a:ea typeface="Tahoma"/>
              </a:rPr>
              <a:t>• فاصله‌های واقعی: 2، 4، 6، 8، 10، 13، 15، 17 متر؛ برد LiDAR 12 متر</a:t>
            </a:r>
          </a:p>
          <a:p>
            <a:pPr algn="r" rtl="1">
              <a:spcAft>
                <a:spcPts val="1000"/>
              </a:spcAft>
            </a:pPr>
            <a:r>
              <a:rPr sz="2000" b="0" i="0" lang="fa-IR">
                <a:solidFill>
                  <a:srgbClr val="262626"/>
                </a:solidFill>
                <a:latin typeface="Tahoma"/>
                <a:cs typeface="Tahoma"/>
                <a:ea typeface="Tahoma"/>
              </a:rPr>
              <a:t>• میانگین واقعی 75/8 = 9.375 m؛ میانگین مشاهده‌شده 30/5 = 6.0 m</a:t>
            </a:r>
          </a:p>
          <a:p>
            <a:pPr algn="r" rtl="1">
              <a:spcAft>
                <a:spcPts val="1000"/>
              </a:spcAft>
            </a:pPr>
            <a:r>
              <a:rPr sz="2000" b="0" i="0" lang="fa-IR">
                <a:solidFill>
                  <a:srgbClr val="262626"/>
                </a:solidFill>
                <a:latin typeface="Tahoma"/>
                <a:cs typeface="Tahoma"/>
                <a:ea typeface="Tahoma"/>
              </a:rPr>
              <a:t>• پرکردن سه شکاف با 6.0: خطاهای −7، −9 و −11 متر</a:t>
            </a:r>
          </a:p>
          <a:p>
            <a:pPr algn="r" rtl="1">
              <a:spcAft>
                <a:spcPts val="1000"/>
              </a:spcAft>
            </a:pPr>
            <a:r>
              <a:rPr sz="2000" b="0" i="0" lang="fa-IR">
                <a:solidFill>
                  <a:srgbClr val="262626"/>
                </a:solidFill>
                <a:latin typeface="Tahoma"/>
                <a:cs typeface="Tahoma"/>
                <a:ea typeface="Tahoma"/>
              </a:rPr>
              <a:t>• میانگین پس از جایگذاری همان 6.0 می‌ماند: سوگیری −3.4 m</a:t>
            </a:r>
          </a:p>
          <a:p>
            <a:pPr algn="r" rtl="1">
              <a:spcAft>
                <a:spcPts val="1000"/>
              </a:spcAft>
            </a:pPr>
            <a:r>
              <a:rPr sz="2000" b="0" i="0" lang="fa-IR">
                <a:solidFill>
                  <a:srgbClr val="262626"/>
                </a:solidFill>
                <a:latin typeface="Tahoma"/>
                <a:cs typeface="Tahoma"/>
                <a:ea typeface="Tahoma"/>
              </a:rPr>
              <a:t>• لاگ ربات: میانگین واقعی 6.86 m، مشاهده‌شده حدود 5.1 m</a:t>
            </a:r>
          </a:p>
        </p:txBody>
      </p:sp>
      <p:pic>
        <p:nvPicPr>
          <p:cNvPr id="5" name="Picture 4" descr="fig_mnar.png"/>
          <p:cNvPicPr>
            <a:picLocks noChangeAspect="1"/>
          </p:cNvPicPr>
          <p:nvPr/>
        </p:nvPicPr>
        <p:blipFill>
          <a:blip r:embed="rId2"/>
          <a:stretch>
            <a:fillRect/>
          </a:stretch>
        </p:blipFill>
        <p:spPr>
          <a:xfrm>
            <a:off x="457200" y="1371600"/>
            <a:ext cx="5150815" cy="2275233"/>
          </a:xfrm>
          <a:prstGeom prst="rect">
            <a:avLst/>
          </a:prstGeom>
        </p:spPr>
      </p:pic>
      <p:sp>
        <p:nvSpPr>
          <p:cNvPr id="6" name="TextBox 5"/>
          <p:cNvSpPr txBox="1"/>
          <p:nvPr/>
        </p:nvSpPr>
        <p:spPr>
          <a:xfrm>
            <a:off x="457200" y="6400800"/>
            <a:ext cx="11277295" cy="365760"/>
          </a:xfrm>
          <a:prstGeom prst="rect">
            <a:avLst/>
          </a:prstGeom>
          <a:noFill/>
        </p:spPr>
        <p:txBody>
          <a:bodyPr wrap="square">
            <a:spAutoFit/>
          </a:bodyPr>
          <a:lstStyle/>
          <a:p>
            <a:pPr algn="r" rtl="1">
              <a:spcAft>
                <a:spcPts val="1000"/>
              </a:spcAft>
            </a:pPr>
            <a:r>
              <a:rPr sz="1100" b="0" i="0" lang="fa-IR">
                <a:solidFill>
                  <a:srgbClr val="595959"/>
                </a:solidFill>
                <a:latin typeface="Tahoma"/>
                <a:cs typeface="Tahoma"/>
                <a:ea typeface="Tahoma"/>
              </a:rPr>
              <a:t>هفته‌ی ۰۵ | مهندسی داده   |   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r" rtl="1">
              <a:spcAft>
                <a:spcPts val="1000"/>
              </a:spcAft>
            </a:pPr>
            <a:r>
              <a:rPr sz="3000" b="1" i="0" lang="fa-IR">
                <a:solidFill>
                  <a:srgbClr val="1F3A5F"/>
                </a:solidFill>
                <a:latin typeface="Tahoma"/>
                <a:cs typeface="Tahoma"/>
                <a:ea typeface="Tahoma"/>
              </a:rPr>
              <a:t>چرا گم شده است؟ MCAR، MAR، MNAR</a:t>
            </a:r>
          </a:p>
        </p:txBody>
      </p:sp>
      <p:sp>
        <p:nvSpPr>
          <p:cNvPr id="4" name="TextBox 3"/>
          <p:cNvSpPr txBox="1"/>
          <p:nvPr/>
        </p:nvSpPr>
        <p:spPr>
          <a:xfrm>
            <a:off x="5882335" y="1371600"/>
            <a:ext cx="5852160" cy="4846320"/>
          </a:xfrm>
          <a:prstGeom prst="rect">
            <a:avLst/>
          </a:prstGeom>
          <a:noFill/>
        </p:spPr>
        <p:txBody>
          <a:bodyPr wrap="square">
            <a:spAutoFit/>
          </a:bodyPr>
          <a:lstStyle/>
          <a:p>
            <a:pPr algn="r" rtl="1">
              <a:spcAft>
                <a:spcPts val="1000"/>
              </a:spcAft>
            </a:pPr>
            <a:r>
              <a:rPr sz="2000" b="0" i="0" lang="fa-IR">
                <a:solidFill>
                  <a:srgbClr val="262626"/>
                </a:solidFill>
                <a:latin typeface="Tahoma"/>
                <a:cs typeface="Tahoma"/>
                <a:ea typeface="Tahoma"/>
              </a:rPr>
              <a:t>• MCAR: به هیچ چیز وابسته نیست (بسته‌ی CAN گمشده)</a:t>
            </a:r>
          </a:p>
          <a:p>
            <a:pPr algn="r" rtl="1">
              <a:spcAft>
                <a:spcPts val="1000"/>
              </a:spcAft>
            </a:pPr>
            <a:r>
              <a:rPr sz="2000" b="0" i="0" lang="fa-IR">
                <a:solidFill>
                  <a:srgbClr val="262626"/>
                </a:solidFill>
                <a:latin typeface="Tahoma"/>
                <a:cs typeface="Tahoma"/>
                <a:ea typeface="Tahoma"/>
              </a:rPr>
              <a:t>• MAR: به ستون مشاهده‌شده‌ی دیگری وابسته است (GPS قطع، «in_hangar» ثبت‌شده)</a:t>
            </a:r>
          </a:p>
          <a:p>
            <a:pPr algn="r" rtl="1">
              <a:spcAft>
                <a:spcPts val="1000"/>
              </a:spcAft>
            </a:pPr>
            <a:r>
              <a:rPr sz="2000" b="0" i="0" lang="fa-IR">
                <a:solidFill>
                  <a:srgbClr val="262626"/>
                </a:solidFill>
                <a:latin typeface="Tahoma"/>
                <a:cs typeface="Tahoma"/>
                <a:ea typeface="Tahoma"/>
              </a:rPr>
              <a:t>• MNAR: به خود مقدار گمشده وابسته است (LiDAR خارج از برد)</a:t>
            </a:r>
          </a:p>
          <a:p>
            <a:pPr algn="r" rtl="1">
              <a:spcAft>
                <a:spcPts val="1000"/>
              </a:spcAft>
            </a:pPr>
            <a:r>
              <a:rPr sz="2000" b="0" i="0" lang="fa-IR">
                <a:solidFill>
                  <a:srgbClr val="262626"/>
                </a:solidFill>
                <a:latin typeface="Tahoma"/>
                <a:cs typeface="Tahoma"/>
                <a:ea typeface="Tahoma"/>
              </a:rPr>
              <a:t>• سازوکار، نه درصد گمشدگی، راه‌حل را تعیین می‌کند</a:t>
            </a:r>
          </a:p>
          <a:p>
            <a:pPr algn="r" rtl="1">
              <a:spcAft>
                <a:spcPts val="1000"/>
              </a:spcAft>
            </a:pPr>
            <a:r>
              <a:rPr sz="2000" b="0" i="0" lang="fa-IR">
                <a:solidFill>
                  <a:srgbClr val="262626"/>
                </a:solidFill>
                <a:latin typeface="Tahoma"/>
                <a:cs typeface="Tahoma"/>
                <a:ea typeface="Tahoma"/>
              </a:rPr>
              <a:t>• MNAR راه‌حل خنثی ندارد: نشانه‌گذاری، مدل‌سازی یا محدود کردن دامنه</a:t>
            </a:r>
          </a:p>
        </p:txBody>
      </p:sp>
      <p:sp>
        <p:nvSpPr>
          <p:cNvPr id="5" name="Rounded Rectangle 4"/>
          <p:cNvSpPr/>
          <p:nvPr/>
        </p:nvSpPr>
        <p:spPr>
          <a:xfrm>
            <a:off x="45720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rtl="1"/>
            <a:r>
              <a:rPr sz="1600" b="0" i="1" lang="fa-IR">
                <a:solidFill>
                  <a:srgbClr val="595959"/>
                </a:solidFill>
                <a:latin typeface="Tahoma"/>
                <a:cs typeface="Tahoma"/>
                <a:ea typeface="Tahoma"/>
              </a:rPr>
              <a:t>تصویر: سه قاب با پراکنش یکسان از مقادیر واقعی؛ نقاط حذف‌شده به‌تصادف (MCAR)، جایی که متغیر دوم زیاد است (MAR)، و جایی که خود مقدار زیاد است (MNAR).</a:t>
            </a:r>
          </a:p>
        </p:txBody>
      </p:sp>
      <p:sp>
        <p:nvSpPr>
          <p:cNvPr id="6" name="TextBox 5"/>
          <p:cNvSpPr txBox="1"/>
          <p:nvPr/>
        </p:nvSpPr>
        <p:spPr>
          <a:xfrm>
            <a:off x="457200" y="6400800"/>
            <a:ext cx="11277295" cy="365760"/>
          </a:xfrm>
          <a:prstGeom prst="rect">
            <a:avLst/>
          </a:prstGeom>
          <a:noFill/>
        </p:spPr>
        <p:txBody>
          <a:bodyPr wrap="square">
            <a:spAutoFit/>
          </a:bodyPr>
          <a:lstStyle/>
          <a:p>
            <a:pPr algn="r" rtl="1">
              <a:spcAft>
                <a:spcPts val="1000"/>
              </a:spcAft>
            </a:pPr>
            <a:r>
              <a:rPr sz="1100" b="0" i="0" lang="fa-IR">
                <a:solidFill>
                  <a:srgbClr val="595959"/>
                </a:solidFill>
                <a:latin typeface="Tahoma"/>
                <a:cs typeface="Tahoma"/>
                <a:ea typeface="Tahoma"/>
              </a:rPr>
              <a:t>هفته‌ی ۰۵ | مهندسی داده   |   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r" rtl="1">
              <a:spcAft>
                <a:spcPts val="1000"/>
              </a:spcAft>
            </a:pPr>
            <a:r>
              <a:rPr sz="3000" b="1" i="0" lang="fa-IR">
                <a:solidFill>
                  <a:srgbClr val="1F3A5F"/>
                </a:solidFill>
                <a:latin typeface="Tahoma"/>
                <a:cs typeface="Tahoma"/>
                <a:ea typeface="Tahoma"/>
              </a:rPr>
              <a:t>راه‌حل‌ها و اینکه هر کدام کی امن است</a:t>
            </a:r>
          </a:p>
        </p:txBody>
      </p:sp>
      <p:sp>
        <p:nvSpPr>
          <p:cNvPr id="4" name="TextBox 3"/>
          <p:cNvSpPr txBox="1"/>
          <p:nvPr/>
        </p:nvSpPr>
        <p:spPr>
          <a:xfrm>
            <a:off x="5882335" y="1371600"/>
            <a:ext cx="5852160" cy="4846320"/>
          </a:xfrm>
          <a:prstGeom prst="rect">
            <a:avLst/>
          </a:prstGeom>
          <a:noFill/>
        </p:spPr>
        <p:txBody>
          <a:bodyPr wrap="square">
            <a:spAutoFit/>
          </a:bodyPr>
          <a:lstStyle/>
          <a:p>
            <a:pPr algn="r" rtl="1">
              <a:spcAft>
                <a:spcPts val="1000"/>
              </a:spcAft>
            </a:pPr>
            <a:r>
              <a:rPr sz="2000" b="0" i="0" lang="fa-IR">
                <a:solidFill>
                  <a:srgbClr val="262626"/>
                </a:solidFill>
                <a:latin typeface="Tahoma"/>
                <a:cs typeface="Tahoma"/>
                <a:ea typeface="Tahoma"/>
              </a:rPr>
              <a:t>• حذف سطر: برای MCAR و وقتی سطرهای کمی از دست می‌رود</a:t>
            </a:r>
          </a:p>
          <a:p>
            <a:pPr algn="r" rtl="1">
              <a:spcAft>
                <a:spcPts val="1000"/>
              </a:spcAft>
            </a:pPr>
            <a:r>
              <a:rPr sz="2000" b="0" i="0" lang="fa-IR">
                <a:solidFill>
                  <a:srgbClr val="262626"/>
                </a:solidFill>
                <a:latin typeface="Tahoma"/>
                <a:cs typeface="Tahoma"/>
                <a:ea typeface="Tahoma"/>
              </a:rPr>
              <a:t>• درون‌یابی زمانی: شکاف‌های کوتاه داخلی (اینجا حداکثر ۵ نمونه)</a:t>
            </a:r>
          </a:p>
          <a:p>
            <a:pPr algn="r" rtl="1">
              <a:spcAft>
                <a:spcPts val="1000"/>
              </a:spcAft>
            </a:pPr>
            <a:r>
              <a:rPr sz="2000" b="0" i="0" lang="fa-IR">
                <a:solidFill>
                  <a:srgbClr val="262626"/>
                </a:solidFill>
                <a:latin typeface="Tahoma"/>
                <a:cs typeface="Tahoma"/>
                <a:ea typeface="Tahoma"/>
              </a:rPr>
              <a:t>• جایگذاری میانه + نشانگر: ویژگی‌های ضعیف، MAR یا MNAR</a:t>
            </a:r>
          </a:p>
          <a:p>
            <a:pPr algn="r" rtl="1">
              <a:spcAft>
                <a:spcPts val="1000"/>
              </a:spcAft>
            </a:pPr>
            <a:r>
              <a:rPr sz="2000" b="0" i="0" lang="fa-IR">
                <a:solidFill>
                  <a:srgbClr val="262626"/>
                </a:solidFill>
                <a:latin typeface="Tahoma"/>
                <a:cs typeface="Tahoma"/>
                <a:ea typeface="Tahoma"/>
              </a:rPr>
              <a:t>• محدود کردن دامنه: «مدل تا وقتی دیوار در ۱۲ متری است معتبر است»</a:t>
            </a:r>
          </a:p>
          <a:p>
            <a:pPr algn="r" rtl="1">
              <a:spcAft>
                <a:spcPts val="1000"/>
              </a:spcAft>
            </a:pPr>
            <a:r>
              <a:rPr sz="2000" b="0" i="0" lang="fa-IR">
                <a:solidFill>
                  <a:srgbClr val="262626"/>
                </a:solidFill>
                <a:latin typeface="Tahoma"/>
                <a:cs typeface="Tahoma"/>
                <a:ea typeface="Tahoma"/>
              </a:rPr>
              <a:t>• هرگز: درون‌یابی روی شکاف‌های بلند یا میان دو اجرا</a:t>
            </a:r>
          </a:p>
        </p:txBody>
      </p:sp>
      <p:sp>
        <p:nvSpPr>
          <p:cNvPr id="5" name="Rounded Rectangle 4"/>
          <p:cNvSpPr/>
          <p:nvPr/>
        </p:nvSpPr>
        <p:spPr>
          <a:xfrm>
            <a:off x="45720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rtl="1"/>
            <a:r>
              <a:rPr sz="1600" b="0" i="1" lang="fa-IR">
                <a:solidFill>
                  <a:srgbClr val="595959"/>
                </a:solidFill>
                <a:latin typeface="Tahoma"/>
                <a:cs typeface="Tahoma"/>
                <a:ea typeface="Tahoma"/>
              </a:rPr>
              <a:t>تصویر: درخت تصمیم: «چرا گم شده؟» ← MCAR (شکاف کوتاه؟ درون‌یابی : حذف) / MAR (جایگذاری از ستون مرتبط) / MNAR (نشانگر یا محدود کردن دامنه)، با مثال ربات روی هر برگ.</a:t>
            </a:r>
          </a:p>
        </p:txBody>
      </p:sp>
      <p:sp>
        <p:nvSpPr>
          <p:cNvPr id="6" name="TextBox 5"/>
          <p:cNvSpPr txBox="1"/>
          <p:nvPr/>
        </p:nvSpPr>
        <p:spPr>
          <a:xfrm>
            <a:off x="457200" y="6400800"/>
            <a:ext cx="11277295" cy="365760"/>
          </a:xfrm>
          <a:prstGeom prst="rect">
            <a:avLst/>
          </a:prstGeom>
          <a:noFill/>
        </p:spPr>
        <p:txBody>
          <a:bodyPr wrap="square">
            <a:spAutoFit/>
          </a:bodyPr>
          <a:lstStyle/>
          <a:p>
            <a:pPr algn="r" rtl="1">
              <a:spcAft>
                <a:spcPts val="1000"/>
              </a:spcAft>
            </a:pPr>
            <a:r>
              <a:rPr sz="1100" b="0" i="0" lang="fa-IR">
                <a:solidFill>
                  <a:srgbClr val="595959"/>
                </a:solidFill>
                <a:latin typeface="Tahoma"/>
                <a:cs typeface="Tahoma"/>
                <a:ea typeface="Tahoma"/>
              </a:rPr>
              <a:t>هفته‌ی ۰۵ | مهندسی داده   |   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r" rtl="1">
              <a:spcAft>
                <a:spcPts val="1000"/>
              </a:spcAft>
            </a:pPr>
            <a:r>
              <a:rPr sz="3000" b="1" i="0" lang="fa-IR">
                <a:solidFill>
                  <a:srgbClr val="E07A1F"/>
                </a:solidFill>
                <a:latin typeface="Tahoma"/>
                <a:cs typeface="Tahoma"/>
                <a:ea typeface="Tahoma"/>
              </a:rPr>
              <a:t>مثال ۳: درون‌یابی یک شکاف با دست</a:t>
            </a:r>
          </a:p>
        </p:txBody>
      </p:sp>
      <p:sp>
        <p:nvSpPr>
          <p:cNvPr id="4" name="TextBox 3"/>
          <p:cNvSpPr txBox="1"/>
          <p:nvPr/>
        </p:nvSpPr>
        <p:spPr>
          <a:xfrm>
            <a:off x="5882335" y="1371600"/>
            <a:ext cx="5852160" cy="4846320"/>
          </a:xfrm>
          <a:prstGeom prst="rect">
            <a:avLst/>
          </a:prstGeom>
          <a:noFill/>
        </p:spPr>
        <p:txBody>
          <a:bodyPr wrap="square">
            <a:spAutoFit/>
          </a:bodyPr>
          <a:lstStyle/>
          <a:p>
            <a:pPr algn="r" rtl="1">
              <a:spcAft>
                <a:spcPts val="1000"/>
              </a:spcAft>
            </a:pPr>
            <a:r>
              <a:rPr sz="2000" b="0" i="0" lang="fa-IR">
                <a:solidFill>
                  <a:srgbClr val="262626"/>
                </a:solidFill>
                <a:latin typeface="Tahoma"/>
                <a:cs typeface="Tahoma"/>
                <a:ea typeface="Tahoma"/>
              </a:rPr>
              <a:t>• r(0) = 8.0 m و r(0.3) = 7.4 m؛ نمونه‌های 0.1 و 0.2 ثانیه گم شده‌اند</a:t>
            </a:r>
          </a:p>
          <a:p>
            <a:pPr algn="r" rtl="1">
              <a:spcAft>
                <a:spcPts val="1000"/>
              </a:spcAft>
            </a:pPr>
            <a:r>
              <a:rPr sz="2000" b="0" i="0" lang="fa-IR">
                <a:solidFill>
                  <a:srgbClr val="262626"/>
                </a:solidFill>
                <a:latin typeface="Tahoma"/>
                <a:cs typeface="Tahoma"/>
                <a:ea typeface="Tahoma"/>
              </a:rPr>
              <a:t>• r(t) = 8.0 + (7.4 − 8.0)·t/0.3</a:t>
            </a:r>
          </a:p>
          <a:p>
            <a:pPr algn="r" rtl="1">
              <a:spcAft>
                <a:spcPts val="1000"/>
              </a:spcAft>
            </a:pPr>
            <a:r>
              <a:rPr sz="2000" b="0" i="0" lang="fa-IR">
                <a:solidFill>
                  <a:srgbClr val="262626"/>
                </a:solidFill>
                <a:latin typeface="Tahoma"/>
                <a:cs typeface="Tahoma"/>
                <a:ea typeface="Tahoma"/>
              </a:rPr>
              <a:t>• r(0.1) = 7.8 m و r(0.2) = 7.6 m (سرعت ضمنی 2 m/s)</a:t>
            </a:r>
          </a:p>
          <a:p>
            <a:pPr algn="r" rtl="1">
              <a:spcAft>
                <a:spcPts val="1000"/>
              </a:spcAft>
            </a:pPr>
            <a:r>
              <a:rPr sz="2000" b="0" i="0" lang="fa-IR">
                <a:solidFill>
                  <a:srgbClr val="262626"/>
                </a:solidFill>
                <a:latin typeface="Tahoma"/>
                <a:cs typeface="Tahoma"/>
                <a:ea typeface="Tahoma"/>
              </a:rPr>
              <a:t>• FillGaps(max_gap=5) هر دو مقدار را بازتولید می‌کند</a:t>
            </a:r>
          </a:p>
          <a:p>
            <a:pPr algn="r" rtl="1">
              <a:spcAft>
                <a:spcPts val="1000"/>
              </a:spcAft>
            </a:pPr>
            <a:r>
              <a:rPr sz="2000" b="0" i="0" lang="fa-IR">
                <a:solidFill>
                  <a:srgbClr val="262626"/>
                </a:solidFill>
                <a:latin typeface="Tahoma"/>
                <a:cs typeface="Tahoma"/>
                <a:ea typeface="Tahoma"/>
              </a:rPr>
              <a:t>• شکاف‌های بلندتر NaN می‌مانند: درون‌یابی داده می‌سازد</a:t>
            </a:r>
          </a:p>
        </p:txBody>
      </p:sp>
      <p:sp>
        <p:nvSpPr>
          <p:cNvPr id="5" name="Rounded Rectangle 4"/>
          <p:cNvSpPr/>
          <p:nvPr/>
        </p:nvSpPr>
        <p:spPr>
          <a:xfrm>
            <a:off x="45720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rtl="1"/>
            <a:r>
              <a:rPr sz="1600" b="0" i="1" lang="fa-IR">
                <a:solidFill>
                  <a:srgbClr val="595959"/>
                </a:solidFill>
                <a:latin typeface="Tahoma"/>
                <a:cs typeface="Tahoma"/>
                <a:ea typeface="Tahoma"/>
              </a:rPr>
              <a:t>تصویر: چهار نقطه روی محور زمان، دو نقطه‌ی توخالی (گمشده) روی خط راست بین 8.0 و 7.4 با برچسب‌های 7.8 و 7.6.</a:t>
            </a:r>
          </a:p>
        </p:txBody>
      </p:sp>
      <p:sp>
        <p:nvSpPr>
          <p:cNvPr id="6" name="TextBox 5"/>
          <p:cNvSpPr txBox="1"/>
          <p:nvPr/>
        </p:nvSpPr>
        <p:spPr>
          <a:xfrm>
            <a:off x="457200" y="6400800"/>
            <a:ext cx="11277295" cy="365760"/>
          </a:xfrm>
          <a:prstGeom prst="rect">
            <a:avLst/>
          </a:prstGeom>
          <a:noFill/>
        </p:spPr>
        <p:txBody>
          <a:bodyPr wrap="square">
            <a:spAutoFit/>
          </a:bodyPr>
          <a:lstStyle/>
          <a:p>
            <a:pPr algn="r" rtl="1">
              <a:spcAft>
                <a:spcPts val="1000"/>
              </a:spcAft>
            </a:pPr>
            <a:r>
              <a:rPr sz="1100" b="0" i="0" lang="fa-IR">
                <a:solidFill>
                  <a:srgbClr val="595959"/>
                </a:solidFill>
                <a:latin typeface="Tahoma"/>
                <a:cs typeface="Tahoma"/>
                <a:ea typeface="Tahoma"/>
              </a:rPr>
              <a:t>هفته‌ی ۰۵ | مهندسی داده   |   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r" rtl="1">
              <a:spcAft>
                <a:spcPts val="1000"/>
              </a:spcAft>
            </a:pPr>
            <a:r>
              <a:rPr sz="3000" b="1" i="0" lang="fa-IR">
                <a:solidFill>
                  <a:srgbClr val="1F3A5F"/>
                </a:solidFill>
                <a:latin typeface="Tahoma"/>
                <a:cs typeface="Tahoma"/>
                <a:ea typeface="Tahoma"/>
              </a:rPr>
              <a:t>داده‌ی پرت: امتیاز z در نمونه‌ی کوچک یک پرت را نمی‌بیند</a:t>
            </a:r>
          </a:p>
        </p:txBody>
      </p:sp>
      <p:sp>
        <p:nvSpPr>
          <p:cNvPr id="4" name="TextBox 3"/>
          <p:cNvSpPr txBox="1"/>
          <p:nvPr/>
        </p:nvSpPr>
        <p:spPr>
          <a:xfrm>
            <a:off x="5882335" y="1371600"/>
            <a:ext cx="5852160" cy="4846320"/>
          </a:xfrm>
          <a:prstGeom prst="rect">
            <a:avLst/>
          </a:prstGeom>
          <a:noFill/>
        </p:spPr>
        <p:txBody>
          <a:bodyPr wrap="square">
            <a:spAutoFit/>
          </a:bodyPr>
          <a:lstStyle/>
          <a:p>
            <a:pPr algn="r" rtl="1">
              <a:spcAft>
                <a:spcPts val="1000"/>
              </a:spcAft>
            </a:pPr>
            <a:r>
              <a:rPr sz="2000" b="0" i="0" lang="fa-IR">
                <a:solidFill>
                  <a:srgbClr val="262626"/>
                </a:solidFill>
                <a:latin typeface="Tahoma"/>
                <a:cs typeface="Tahoma"/>
                <a:ea typeface="Tahoma"/>
              </a:rPr>
              <a:t>• هفت نمونه در حالت سکون و یک جهش 25 m/s²</a:t>
            </a:r>
          </a:p>
          <a:p>
            <a:pPr algn="r" rtl="1">
              <a:spcAft>
                <a:spcPts val="1000"/>
              </a:spcAft>
            </a:pPr>
            <a:r>
              <a:rPr sz="2000" b="0" i="0" lang="fa-IR">
                <a:solidFill>
                  <a:srgbClr val="262626"/>
                </a:solidFill>
                <a:latin typeface="Tahoma"/>
                <a:cs typeface="Tahoma"/>
                <a:ea typeface="Tahoma"/>
              </a:rPr>
              <a:t>• میانگین 3.16 و σ برابر 8.26: z = 2.65 &lt; 3، علامت نمی‌خورد</a:t>
            </a:r>
          </a:p>
          <a:p>
            <a:pPr algn="r" rtl="1">
              <a:spcAft>
                <a:spcPts val="1000"/>
              </a:spcAft>
            </a:pPr>
            <a:r>
              <a:rPr sz="2000" b="0" i="0" lang="fa-IR">
                <a:solidFill>
                  <a:srgbClr val="262626"/>
                </a:solidFill>
                <a:latin typeface="Tahoma"/>
                <a:cs typeface="Tahoma"/>
                <a:ea typeface="Tahoma"/>
              </a:rPr>
              <a:t>• Samuelson: |z| ≤ √(n − 1)؛ برای n = 8 برابر 2.65، و ۳ فقط از n = 10</a:t>
            </a:r>
          </a:p>
          <a:p>
            <a:pPr algn="r" rtl="1">
              <a:spcAft>
                <a:spcPts val="1000"/>
              </a:spcAft>
            </a:pPr>
            <a:r>
              <a:rPr sz="2000" b="0" i="0" lang="fa-IR">
                <a:solidFill>
                  <a:srgbClr val="262626"/>
                </a:solidFill>
                <a:latin typeface="Tahoma"/>
                <a:cs typeface="Tahoma"/>
                <a:ea typeface="Tahoma"/>
              </a:rPr>
              <a:t>• پرت همان σ را بزرگ می‌کند که باید آن را لو بدهد (پوشاندن)</a:t>
            </a:r>
          </a:p>
          <a:p>
            <a:pPr algn="r" rtl="1">
              <a:spcAft>
                <a:spcPts val="1000"/>
              </a:spcAft>
            </a:pPr>
            <a:r>
              <a:rPr sz="2000" b="0" i="0" lang="fa-IR">
                <a:solidFill>
                  <a:srgbClr val="262626"/>
                </a:solidFill>
                <a:latin typeface="Tahoma"/>
                <a:cs typeface="Tahoma"/>
                <a:ea typeface="Tahoma"/>
              </a:rPr>
              <a:t>• میانه 0.05 و MAD 0.15: امتیاز مقاوم 112، علامت می‌خورد</a:t>
            </a:r>
          </a:p>
        </p:txBody>
      </p:sp>
      <p:pic>
        <p:nvPicPr>
          <p:cNvPr id="5" name="Picture 4" descr="fig_masking.png"/>
          <p:cNvPicPr>
            <a:picLocks noChangeAspect="1"/>
          </p:cNvPicPr>
          <p:nvPr/>
        </p:nvPicPr>
        <p:blipFill>
          <a:blip r:embed="rId2"/>
          <a:stretch>
            <a:fillRect/>
          </a:stretch>
        </p:blipFill>
        <p:spPr>
          <a:xfrm>
            <a:off x="457200" y="1371600"/>
            <a:ext cx="5150815" cy="1816504"/>
          </a:xfrm>
          <a:prstGeom prst="rect">
            <a:avLst/>
          </a:prstGeom>
        </p:spPr>
      </p:pic>
      <p:sp>
        <p:nvSpPr>
          <p:cNvPr id="6" name="TextBox 5"/>
          <p:cNvSpPr txBox="1"/>
          <p:nvPr/>
        </p:nvSpPr>
        <p:spPr>
          <a:xfrm>
            <a:off x="457200" y="6400800"/>
            <a:ext cx="11277295" cy="365760"/>
          </a:xfrm>
          <a:prstGeom prst="rect">
            <a:avLst/>
          </a:prstGeom>
          <a:noFill/>
        </p:spPr>
        <p:txBody>
          <a:bodyPr wrap="square">
            <a:spAutoFit/>
          </a:bodyPr>
          <a:lstStyle/>
          <a:p>
            <a:pPr algn="r" rtl="1">
              <a:spcAft>
                <a:spcPts val="1000"/>
              </a:spcAft>
            </a:pPr>
            <a:r>
              <a:rPr sz="1100" b="0" i="0" lang="fa-IR">
                <a:solidFill>
                  <a:srgbClr val="595959"/>
                </a:solidFill>
                <a:latin typeface="Tahoma"/>
                <a:cs typeface="Tahoma"/>
                <a:ea typeface="Tahoma"/>
              </a:rPr>
              <a:t>هفته‌ی ۰۵ | مهندسی داده   |   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r" rtl="1">
              <a:spcAft>
                <a:spcPts val="1000"/>
              </a:spcAft>
            </a:pPr>
            <a:r>
              <a:rPr sz="3000" b="1" i="0" lang="fa-IR">
                <a:solidFill>
                  <a:srgbClr val="1F3A5F"/>
                </a:solidFill>
                <a:latin typeface="Tahoma"/>
                <a:cs typeface="Tahoma"/>
                <a:ea typeface="Tahoma"/>
              </a:rPr>
              <a:t>جهش یا مانور؟ قاعده‌ی سراسری در برابر محلی</a:t>
            </a:r>
          </a:p>
        </p:txBody>
      </p:sp>
      <p:sp>
        <p:nvSpPr>
          <p:cNvPr id="4" name="TextBox 3"/>
          <p:cNvSpPr txBox="1"/>
          <p:nvPr/>
        </p:nvSpPr>
        <p:spPr>
          <a:xfrm>
            <a:off x="5882335" y="1371600"/>
            <a:ext cx="5852160" cy="4846320"/>
          </a:xfrm>
          <a:prstGeom prst="rect">
            <a:avLst/>
          </a:prstGeom>
          <a:noFill/>
        </p:spPr>
        <p:txBody>
          <a:bodyPr wrap="square">
            <a:spAutoFit/>
          </a:bodyPr>
          <a:lstStyle/>
          <a:p>
            <a:pPr algn="r" rtl="1">
              <a:spcAft>
                <a:spcPts val="1000"/>
              </a:spcAft>
            </a:pPr>
            <a:r>
              <a:rPr sz="2000" b="0" i="0" lang="fa-IR">
                <a:solidFill>
                  <a:srgbClr val="262626"/>
                </a:solidFill>
                <a:latin typeface="Tahoma"/>
                <a:cs typeface="Tahoma"/>
                <a:ea typeface="Tahoma"/>
              </a:rPr>
              <a:t>• حصارهای توکی [Q1 − 1.5 IQR, Q3 + 1.5 IQR]: مقاوم ولی سراسری</a:t>
            </a:r>
          </a:p>
          <a:p>
            <a:pPr algn="r" rtl="1">
              <a:spcAft>
                <a:spcPts val="1000"/>
              </a:spcAft>
            </a:pPr>
            <a:r>
              <a:rPr sz="2000" b="0" i="0" lang="fa-IR">
                <a:solidFill>
                  <a:srgbClr val="262626"/>
                </a:solidFill>
                <a:latin typeface="Tahoma"/>
                <a:cs typeface="Tahoma"/>
                <a:ea typeface="Tahoma"/>
              </a:rPr>
              <a:t>• روی لاگ ربات ۲۳۹ نمونه‌ی معقول را علامت می‌زنند (ترمز!)</a:t>
            </a:r>
          </a:p>
          <a:p>
            <a:pPr algn="r" rtl="1">
              <a:spcAft>
                <a:spcPts val="1000"/>
              </a:spcAft>
            </a:pPr>
            <a:r>
              <a:rPr sz="2000" b="0" i="0" lang="fa-IR">
                <a:solidFill>
                  <a:srgbClr val="262626"/>
                </a:solidFill>
                <a:latin typeface="Tahoma"/>
                <a:cs typeface="Tahoma"/>
                <a:ea typeface="Tahoma"/>
              </a:rPr>
              <a:t>• Hampel: میانه و MAD در پنجره‌ی متحرک ۷ نمونه‌ای</a:t>
            </a:r>
          </a:p>
          <a:p>
            <a:pPr algn="r" rtl="1">
              <a:spcAft>
                <a:spcPts val="1000"/>
              </a:spcAft>
            </a:pPr>
            <a:r>
              <a:rPr sz="2000" b="0" i="0" lang="fa-IR">
                <a:solidFill>
                  <a:srgbClr val="262626"/>
                </a:solidFill>
                <a:latin typeface="Tahoma"/>
                <a:cs typeface="Tahoma"/>
                <a:ea typeface="Tahoma"/>
              </a:rPr>
              <a:t>• هر نمونه را با همسایه‌هایش می‌سنجد، نه با کل لاگ</a:t>
            </a:r>
          </a:p>
          <a:p>
            <a:pPr algn="r" rtl="1">
              <a:spcAft>
                <a:spcPts val="1000"/>
              </a:spcAft>
            </a:pPr>
            <a:r>
              <a:rPr sz="2000" b="0" i="0" lang="fa-IR">
                <a:solidFill>
                  <a:srgbClr val="262626"/>
                </a:solidFill>
                <a:latin typeface="Tahoma"/>
                <a:cs typeface="Tahoma"/>
                <a:ea typeface="Tahoma"/>
              </a:rPr>
              <a:t>• توکی (k = 3) فقط به‌عنوان تور ایمنی آخر، برازش‌شده روی آموزش</a:t>
            </a:r>
          </a:p>
        </p:txBody>
      </p:sp>
      <p:pic>
        <p:nvPicPr>
          <p:cNvPr id="5" name="Picture 4" descr="fig_outlier_rules.png"/>
          <p:cNvPicPr>
            <a:picLocks noChangeAspect="1"/>
          </p:cNvPicPr>
          <p:nvPr/>
        </p:nvPicPr>
        <p:blipFill>
          <a:blip r:embed="rId2"/>
          <a:stretch>
            <a:fillRect/>
          </a:stretch>
        </p:blipFill>
        <p:spPr>
          <a:xfrm>
            <a:off x="457200" y="1371600"/>
            <a:ext cx="5150815" cy="2019397"/>
          </a:xfrm>
          <a:prstGeom prst="rect">
            <a:avLst/>
          </a:prstGeom>
        </p:spPr>
      </p:pic>
      <p:sp>
        <p:nvSpPr>
          <p:cNvPr id="6" name="TextBox 5"/>
          <p:cNvSpPr txBox="1"/>
          <p:nvPr/>
        </p:nvSpPr>
        <p:spPr>
          <a:xfrm>
            <a:off x="457200" y="6400800"/>
            <a:ext cx="11277295" cy="365760"/>
          </a:xfrm>
          <a:prstGeom prst="rect">
            <a:avLst/>
          </a:prstGeom>
          <a:noFill/>
        </p:spPr>
        <p:txBody>
          <a:bodyPr wrap="square">
            <a:spAutoFit/>
          </a:bodyPr>
          <a:lstStyle/>
          <a:p>
            <a:pPr algn="r" rtl="1">
              <a:spcAft>
                <a:spcPts val="1000"/>
              </a:spcAft>
            </a:pPr>
            <a:r>
              <a:rPr sz="1100" b="0" i="0" lang="fa-IR">
                <a:solidFill>
                  <a:srgbClr val="595959"/>
                </a:solidFill>
                <a:latin typeface="Tahoma"/>
                <a:cs typeface="Tahoma"/>
                <a:ea typeface="Tahoma"/>
              </a:rPr>
              <a:t>هفته‌ی ۰۵ | مهندسی داده   |   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r" rtl="1">
              <a:spcAft>
                <a:spcPts val="1000"/>
              </a:spcAft>
            </a:pPr>
            <a:r>
              <a:rPr sz="3000" b="1" i="0" lang="fa-IR">
                <a:solidFill>
                  <a:srgbClr val="E07A1F"/>
                </a:solidFill>
                <a:latin typeface="Tahoma"/>
                <a:cs typeface="Tahoma"/>
                <a:ea typeface="Tahoma"/>
              </a:rPr>
              <a:t>مثال ۴: پژواک گردوغبار در هفت خوانش LiDAR</a:t>
            </a:r>
          </a:p>
        </p:txBody>
      </p:sp>
      <p:sp>
        <p:nvSpPr>
          <p:cNvPr id="4" name="TextBox 3"/>
          <p:cNvSpPr txBox="1"/>
          <p:nvPr/>
        </p:nvSpPr>
        <p:spPr>
          <a:xfrm>
            <a:off x="5882335" y="1371600"/>
            <a:ext cx="5852160" cy="4846320"/>
          </a:xfrm>
          <a:prstGeom prst="rect">
            <a:avLst/>
          </a:prstGeom>
          <a:noFill/>
        </p:spPr>
        <p:txBody>
          <a:bodyPr wrap="square">
            <a:spAutoFit/>
          </a:bodyPr>
          <a:lstStyle/>
          <a:p>
            <a:pPr algn="r" rtl="1">
              <a:spcAft>
                <a:spcPts val="1000"/>
              </a:spcAft>
            </a:pPr>
            <a:r>
              <a:rPr sz="2000" b="0" i="0" lang="fa-IR">
                <a:solidFill>
                  <a:srgbClr val="262626"/>
                </a:solidFill>
                <a:latin typeface="Tahoma"/>
                <a:cs typeface="Tahoma"/>
                <a:ea typeface="Tahoma"/>
              </a:rPr>
              <a:t>• 8.02، 7.98، 8.01، 1.20، 7.97، 8.03، 7.99 متر</a:t>
            </a:r>
          </a:p>
          <a:p>
            <a:pPr algn="r" rtl="1">
              <a:spcAft>
                <a:spcPts val="1000"/>
              </a:spcAft>
            </a:pPr>
            <a:r>
              <a:rPr sz="2000" b="0" i="0" lang="fa-IR">
                <a:solidFill>
                  <a:srgbClr val="262626"/>
                </a:solidFill>
                <a:latin typeface="Tahoma"/>
                <a:cs typeface="Tahoma"/>
                <a:ea typeface="Tahoma"/>
              </a:rPr>
              <a:t>• میانگین 7.03 و σ برابر 2.38: z(1.20) = −2.449 = −√6، بیشترین مقدار ممکن</a:t>
            </a:r>
          </a:p>
          <a:p>
            <a:pPr algn="r" rtl="1">
              <a:spcAft>
                <a:spcPts val="1000"/>
              </a:spcAft>
            </a:pPr>
            <a:r>
              <a:rPr sz="2000" b="0" i="0" lang="fa-IR">
                <a:solidFill>
                  <a:srgbClr val="262626"/>
                </a:solidFill>
                <a:latin typeface="Tahoma"/>
                <a:cs typeface="Tahoma"/>
                <a:ea typeface="Tahoma"/>
              </a:rPr>
              <a:t>• میانه 7.99 و MAD برابر 0.02: امتیاز مقاوم 229</a:t>
            </a:r>
          </a:p>
          <a:p>
            <a:pPr algn="r" rtl="1">
              <a:spcAft>
                <a:spcPts val="1000"/>
              </a:spcAft>
            </a:pPr>
            <a:r>
              <a:rPr sz="2000" b="0" i="0" lang="fa-IR">
                <a:solidFill>
                  <a:srgbClr val="262626"/>
                </a:solidFill>
                <a:latin typeface="Tahoma"/>
                <a:cs typeface="Tahoma"/>
                <a:ea typeface="Tahoma"/>
              </a:rPr>
              <a:t>• حصارهای توکی [7.915, 8.075]: علامت می‌خورد، ولی فقط برای همین پنجره معتبر است</a:t>
            </a:r>
          </a:p>
          <a:p>
            <a:pPr algn="r" rtl="1">
              <a:spcAft>
                <a:spcPts val="1000"/>
              </a:spcAft>
            </a:pPr>
            <a:r>
              <a:rPr sz="2000" b="0" i="0" lang="fa-IR">
                <a:solidFill>
                  <a:srgbClr val="262626"/>
                </a:solidFill>
                <a:latin typeface="Tahoma"/>
                <a:cs typeface="Tahoma"/>
                <a:ea typeface="Tahoma"/>
              </a:rPr>
              <a:t>• Hampel با پنجره‌ی ۷: دقیقاً یک نمونه را علامت می‌زند</a:t>
            </a:r>
          </a:p>
        </p:txBody>
      </p:sp>
      <p:sp>
        <p:nvSpPr>
          <p:cNvPr id="5" name="Rounded Rectangle 4"/>
          <p:cNvSpPr/>
          <p:nvPr/>
        </p:nvSpPr>
        <p:spPr>
          <a:xfrm>
            <a:off x="45720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rtl="1"/>
            <a:r>
              <a:rPr sz="1600" b="0" i="1" lang="fa-IR">
                <a:solidFill>
                  <a:srgbClr val="595959"/>
                </a:solidFill>
                <a:latin typeface="Tahoma"/>
                <a:cs typeface="Tahoma"/>
                <a:ea typeface="Tahoma"/>
              </a:rPr>
              <a:t>تصویر: هفت نقطه روی محور اعداد از 0 تا 9 متر با میانگین، میانه و نوار میانه ± 3·1.4826·MAD (±0.089 m)؛ پژواک در منتهی‌الیه چپ.</a:t>
            </a:r>
          </a:p>
        </p:txBody>
      </p:sp>
      <p:sp>
        <p:nvSpPr>
          <p:cNvPr id="6" name="TextBox 5"/>
          <p:cNvSpPr txBox="1"/>
          <p:nvPr/>
        </p:nvSpPr>
        <p:spPr>
          <a:xfrm>
            <a:off x="457200" y="6400800"/>
            <a:ext cx="11277295" cy="365760"/>
          </a:xfrm>
          <a:prstGeom prst="rect">
            <a:avLst/>
          </a:prstGeom>
          <a:noFill/>
        </p:spPr>
        <p:txBody>
          <a:bodyPr wrap="square">
            <a:spAutoFit/>
          </a:bodyPr>
          <a:lstStyle/>
          <a:p>
            <a:pPr algn="r" rtl="1">
              <a:spcAft>
                <a:spcPts val="1000"/>
              </a:spcAft>
            </a:pPr>
            <a:r>
              <a:rPr sz="1100" b="0" i="0" lang="fa-IR">
                <a:solidFill>
                  <a:srgbClr val="595959"/>
                </a:solidFill>
                <a:latin typeface="Tahoma"/>
                <a:cs typeface="Tahoma"/>
                <a:ea typeface="Tahoma"/>
              </a:rPr>
              <a:t>هفته‌ی ۰۵ | مهندسی داده   |   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r" rtl="1">
              <a:spcAft>
                <a:spcPts val="1000"/>
              </a:spcAft>
            </a:pPr>
            <a:r>
              <a:rPr sz="3000" b="1" i="0" lang="fa-IR">
                <a:solidFill>
                  <a:srgbClr val="1F3A5F"/>
                </a:solidFill>
                <a:latin typeface="Tahoma"/>
                <a:cs typeface="Tahoma"/>
                <a:ea typeface="Tahoma"/>
              </a:rPr>
              <a:t>مرزها را رعایت کنید: پردازش جداگانه‌ی هر اجرا</a:t>
            </a:r>
          </a:p>
        </p:txBody>
      </p:sp>
      <p:sp>
        <p:nvSpPr>
          <p:cNvPr id="4" name="TextBox 3"/>
          <p:cNvSpPr txBox="1"/>
          <p:nvPr/>
        </p:nvSpPr>
        <p:spPr>
          <a:xfrm>
            <a:off x="5882335" y="1371600"/>
            <a:ext cx="5852160" cy="4846320"/>
          </a:xfrm>
          <a:prstGeom prst="rect">
            <a:avLst/>
          </a:prstGeom>
          <a:noFill/>
        </p:spPr>
        <p:txBody>
          <a:bodyPr wrap="square">
            <a:spAutoFit/>
          </a:bodyPr>
          <a:lstStyle/>
          <a:p>
            <a:pPr algn="r" rtl="1">
              <a:spcAft>
                <a:spcPts val="1000"/>
              </a:spcAft>
            </a:pPr>
            <a:r>
              <a:rPr sz="2000" b="0" i="0" lang="fa-IR">
                <a:solidFill>
                  <a:srgbClr val="262626"/>
                </a:solidFill>
                <a:latin typeface="Tahoma"/>
                <a:cs typeface="Tahoma"/>
                <a:ea typeface="Tahoma"/>
              </a:rPr>
              <a:t>• لاگ از ۱۶ رانندگی جدا تشکیل شده که پشت هم چسبیده‌اند</a:t>
            </a:r>
          </a:p>
          <a:p>
            <a:pPr algn="r" rtl="1">
              <a:spcAft>
                <a:spcPts val="1000"/>
              </a:spcAft>
            </a:pPr>
            <a:r>
              <a:rPr sz="2000" b="0" i="0" lang="fa-IR">
                <a:solidFill>
                  <a:srgbClr val="262626"/>
                </a:solidFill>
                <a:latin typeface="Tahoma"/>
                <a:cs typeface="Tahoma"/>
                <a:ea typeface="Tahoma"/>
              </a:rPr>
              <a:t>• درون‌یابی، پنجره‌ی Hampel، میانگین متحرک و جابه‌جایی باید در پایان اجرا متوقف شوند</a:t>
            </a:r>
          </a:p>
          <a:p>
            <a:pPr algn="r" rtl="1">
              <a:spcAft>
                <a:spcPts val="1000"/>
              </a:spcAft>
            </a:pPr>
            <a:r>
              <a:rPr sz="2000" b="0" i="0" lang="fa-IR">
                <a:solidFill>
                  <a:srgbClr val="262626"/>
                </a:solidFill>
                <a:latin typeface="Tahoma"/>
                <a:cs typeface="Tahoma"/>
                <a:ea typeface="Tahoma"/>
              </a:rPr>
              <a:t>• shift(−10) ساده: ۱۰ هدف آخر هر اجرا از اجرای بعدی می‌آید</a:t>
            </a:r>
          </a:p>
          <a:p>
            <a:pPr algn="r" rtl="1">
              <a:spcAft>
                <a:spcPts val="1000"/>
              </a:spcAft>
            </a:pPr>
            <a:r>
              <a:rPr sz="2000" b="0" i="0" lang="fa-IR">
                <a:solidFill>
                  <a:srgbClr val="262626"/>
                </a:solidFill>
                <a:latin typeface="Tahoma"/>
                <a:cs typeface="Tahoma"/>
                <a:ea typeface="Tahoma"/>
              </a:rPr>
              <a:t>• PerGroup(stage, "run_id") هر مرحله‌ی بدون حالت را برای هر اجرا جدا اعمال می‌کند</a:t>
            </a:r>
          </a:p>
          <a:p>
            <a:pPr algn="r" rtl="1">
              <a:spcAft>
                <a:spcPts val="1000"/>
              </a:spcAft>
            </a:pPr>
            <a:r>
              <a:rPr sz="2000" b="0" i="0" lang="fa-IR">
                <a:solidFill>
                  <a:srgbClr val="262626"/>
                </a:solidFill>
                <a:latin typeface="Tahoma"/>
                <a:cs typeface="Tahoma"/>
                <a:ea typeface="Tahoma"/>
              </a:rPr>
              <a:t>• یک الگوی ترکیبی (Composite): خودش مرحله است و مرحله‌ای را در بر دارد</a:t>
            </a:r>
          </a:p>
        </p:txBody>
      </p:sp>
      <p:pic>
        <p:nvPicPr>
          <p:cNvPr id="5" name="Picture 4" descr="fig_per_group.png"/>
          <p:cNvPicPr>
            <a:picLocks noChangeAspect="1"/>
          </p:cNvPicPr>
          <p:nvPr/>
        </p:nvPicPr>
        <p:blipFill>
          <a:blip r:embed="rId2"/>
          <a:stretch>
            <a:fillRect/>
          </a:stretch>
        </p:blipFill>
        <p:spPr>
          <a:xfrm>
            <a:off x="457200" y="1371600"/>
            <a:ext cx="5150815" cy="1903562"/>
          </a:xfrm>
          <a:prstGeom prst="rect">
            <a:avLst/>
          </a:prstGeom>
        </p:spPr>
      </p:pic>
      <p:sp>
        <p:nvSpPr>
          <p:cNvPr id="6" name="TextBox 5"/>
          <p:cNvSpPr txBox="1"/>
          <p:nvPr/>
        </p:nvSpPr>
        <p:spPr>
          <a:xfrm>
            <a:off x="457200" y="6400800"/>
            <a:ext cx="11277295" cy="365760"/>
          </a:xfrm>
          <a:prstGeom prst="rect">
            <a:avLst/>
          </a:prstGeom>
          <a:noFill/>
        </p:spPr>
        <p:txBody>
          <a:bodyPr wrap="square">
            <a:spAutoFit/>
          </a:bodyPr>
          <a:lstStyle/>
          <a:p>
            <a:pPr algn="r" rtl="1">
              <a:spcAft>
                <a:spcPts val="1000"/>
              </a:spcAft>
            </a:pPr>
            <a:r>
              <a:rPr sz="1100" b="0" i="0" lang="fa-IR">
                <a:solidFill>
                  <a:srgbClr val="595959"/>
                </a:solidFill>
                <a:latin typeface="Tahoma"/>
                <a:cs typeface="Tahoma"/>
                <a:ea typeface="Tahoma"/>
              </a:rPr>
              <a:t>هفته‌ی ۰۵ | مهندسی داده   |   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r" rtl="1">
              <a:spcAft>
                <a:spcPts val="1000"/>
              </a:spcAft>
            </a:pPr>
            <a:r>
              <a:rPr sz="3000" b="1" i="0" lang="fa-IR">
                <a:solidFill>
                  <a:srgbClr val="1F3A5F"/>
                </a:solidFill>
                <a:latin typeface="Tahoma"/>
                <a:cs typeface="Tahoma"/>
                <a:ea typeface="Tahoma"/>
              </a:rPr>
              <a:t>دستورالعمل کلاس: پاک‌سازی بدون حالت</a:t>
            </a:r>
          </a:p>
        </p:txBody>
      </p:sp>
      <p:sp>
        <p:nvSpPr>
          <p:cNvPr id="4" name="TextBox 3"/>
          <p:cNvSpPr txBox="1"/>
          <p:nvPr/>
        </p:nvSpPr>
        <p:spPr>
          <a:xfrm>
            <a:off x="5882335" y="1371600"/>
            <a:ext cx="5852160" cy="4846320"/>
          </a:xfrm>
          <a:prstGeom prst="rect">
            <a:avLst/>
          </a:prstGeom>
          <a:noFill/>
        </p:spPr>
        <p:txBody>
          <a:bodyPr wrap="square">
            <a:spAutoFit/>
          </a:bodyPr>
          <a:lstStyle/>
          <a:p>
            <a:pPr algn="r" rtl="1">
              <a:spcAft>
                <a:spcPts val="1000"/>
              </a:spcAft>
            </a:pPr>
            <a:r>
              <a:rPr sz="2000" b="0" i="0" lang="fa-IR">
                <a:solidFill>
                  <a:srgbClr val="262626"/>
                </a:solidFill>
                <a:latin typeface="Tahoma"/>
                <a:cs typeface="Tahoma"/>
                <a:ea typeface="Tahoma"/>
              </a:rPr>
              <a:t>• SortAndDeduplicate: از ۲۵۳۳ به ۲۵۰۸ سطر</a:t>
            </a:r>
          </a:p>
          <a:p>
            <a:pPr algn="r" rtl="1">
              <a:spcAft>
                <a:spcPts val="1000"/>
              </a:spcAft>
            </a:pPr>
            <a:r>
              <a:rPr sz="2000" b="0" i="0" lang="fa-IR">
                <a:solidFill>
                  <a:srgbClr val="262626"/>
                </a:solidFill>
                <a:latin typeface="Tahoma"/>
                <a:cs typeface="Tahoma"/>
                <a:ea typeface="Tahoma"/>
              </a:rPr>
              <a:t>• MarkInvalid: ۵۳۰ خانه‌ی LiDAR به NaN تبدیل می‌شود (0.0 یا بیرون از 0.3 تا 12 متر)</a:t>
            </a:r>
          </a:p>
          <a:p>
            <a:pPr algn="r" rtl="1">
              <a:spcAft>
                <a:spcPts val="1000"/>
              </a:spcAft>
            </a:pPr>
            <a:r>
              <a:rPr sz="2000" b="0" i="0" lang="fa-IR">
                <a:solidFill>
                  <a:srgbClr val="262626"/>
                </a:solidFill>
                <a:latin typeface="Tahoma"/>
                <a:cs typeface="Tahoma"/>
                <a:ea typeface="Tahoma"/>
              </a:rPr>
              <a:t>• PerGroup(Hampel)، PerGroup(FillGaps)، PerGroup(ForecastTarget)</a:t>
            </a:r>
          </a:p>
          <a:p>
            <a:pPr algn="r" rtl="1">
              <a:spcAft>
                <a:spcPts val="1000"/>
              </a:spcAft>
            </a:pPr>
            <a:r>
              <a:rPr sz="2000" b="0" i="0" lang="fa-IR">
                <a:solidFill>
                  <a:srgbClr val="262626"/>
                </a:solidFill>
                <a:latin typeface="Tahoma"/>
                <a:cs typeface="Tahoma"/>
                <a:ea typeface="Tahoma"/>
              </a:rPr>
              <a:t>• DropNonFinite: ۱۸۵۹ سطر با همه‌ی ویژگی‌ها و هدف</a:t>
            </a:r>
          </a:p>
          <a:p>
            <a:pPr algn="r" rtl="1">
              <a:spcAft>
                <a:spcPts val="1000"/>
              </a:spcAft>
            </a:pPr>
            <a:r>
              <a:rPr sz="2000" b="0" i="0" lang="fa-IR">
                <a:solidFill>
                  <a:srgbClr val="262626"/>
                </a:solidFill>
                <a:latin typeface="Tahoma"/>
                <a:cs typeface="Tahoma"/>
                <a:ea typeface="Tahoma"/>
              </a:rPr>
              <a:t>• هیچ چیز آموخته نمی‌شود: اجرای آن پیش از تقسیم امن است</a:t>
            </a:r>
          </a:p>
        </p:txBody>
      </p:sp>
      <p:sp>
        <p:nvSpPr>
          <p:cNvPr id="5" name="Rounded Rectangle 4"/>
          <p:cNvSpPr/>
          <p:nvPr/>
        </p:nvSpPr>
        <p:spPr>
          <a:xfrm>
            <a:off x="45720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rtl="1"/>
            <a:r>
              <a:rPr sz="1600" b="0" i="1" lang="fa-IR">
                <a:solidFill>
                  <a:srgbClr val="595959"/>
                </a:solidFill>
                <a:latin typeface="Tahoma"/>
                <a:cs typeface="Tahoma"/>
                <a:ea typeface="Tahoma"/>
              </a:rPr>
              <a:t>تصویر: جدول گزارش اجرا: مرحله، rows_in، rows_out، nan_out، cells_changed (2533/2508/19؛ 2508/2508/549/530؛ 167؛ 58؛ 0؛ 1859).</a:t>
            </a:r>
          </a:p>
        </p:txBody>
      </p:sp>
      <p:sp>
        <p:nvSpPr>
          <p:cNvPr id="6" name="TextBox 5"/>
          <p:cNvSpPr txBox="1"/>
          <p:nvPr/>
        </p:nvSpPr>
        <p:spPr>
          <a:xfrm>
            <a:off x="457200" y="6400800"/>
            <a:ext cx="11277295" cy="365760"/>
          </a:xfrm>
          <a:prstGeom prst="rect">
            <a:avLst/>
          </a:prstGeom>
          <a:noFill/>
        </p:spPr>
        <p:txBody>
          <a:bodyPr wrap="square">
            <a:spAutoFit/>
          </a:bodyPr>
          <a:lstStyle/>
          <a:p>
            <a:pPr algn="r" rtl="1">
              <a:spcAft>
                <a:spcPts val="1000"/>
              </a:spcAft>
            </a:pPr>
            <a:r>
              <a:rPr sz="1100" b="0" i="0" lang="fa-IR">
                <a:solidFill>
                  <a:srgbClr val="595959"/>
                </a:solidFill>
                <a:latin typeface="Tahoma"/>
                <a:cs typeface="Tahoma"/>
                <a:ea typeface="Tahoma"/>
              </a:rPr>
              <a:t>هفته‌ی ۰۵ | مهندسی داده   |   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r" rtl="1">
              <a:spcAft>
                <a:spcPts val="1000"/>
              </a:spcAft>
            </a:pPr>
            <a:r>
              <a:rPr sz="3000" b="1" i="0" lang="fa-IR">
                <a:solidFill>
                  <a:srgbClr val="E07A1F"/>
                </a:solidFill>
                <a:latin typeface="Tahoma"/>
                <a:cs typeface="Tahoma"/>
                <a:ea typeface="Tahoma"/>
              </a:rPr>
              <a:t>مثال ۵: نزدیک‌ترین همسایه کدام است؟</a:t>
            </a:r>
          </a:p>
        </p:txBody>
      </p:sp>
      <p:sp>
        <p:nvSpPr>
          <p:cNvPr id="4" name="TextBox 3"/>
          <p:cNvSpPr txBox="1"/>
          <p:nvPr/>
        </p:nvSpPr>
        <p:spPr>
          <a:xfrm>
            <a:off x="5882335" y="1371600"/>
            <a:ext cx="5852160" cy="4846320"/>
          </a:xfrm>
          <a:prstGeom prst="rect">
            <a:avLst/>
          </a:prstGeom>
          <a:noFill/>
        </p:spPr>
        <p:txBody>
          <a:bodyPr wrap="square">
            <a:spAutoFit/>
          </a:bodyPr>
          <a:lstStyle/>
          <a:p>
            <a:pPr algn="r" rtl="1">
              <a:spcAft>
                <a:spcPts val="1000"/>
              </a:spcAft>
            </a:pPr>
            <a:r>
              <a:rPr sz="2000" b="0" i="0" lang="fa-IR">
                <a:solidFill>
                  <a:srgbClr val="262626"/>
                </a:solidFill>
                <a:latin typeface="Tahoma"/>
                <a:cs typeface="Tahoma"/>
                <a:ea typeface="Tahoma"/>
              </a:rPr>
              <a:t>• q = (5.0 m, 0.0 m/s²) در حال حرکت یکنواخت؛ A = (5.1, −1.0) در حال ترمز؛ B = (6.2, 0.0)</a:t>
            </a:r>
          </a:p>
          <a:p>
            <a:pPr algn="r" rtl="1">
              <a:spcAft>
                <a:spcPts val="1000"/>
              </a:spcAft>
            </a:pPr>
            <a:r>
              <a:rPr sz="2000" b="0" i="0" lang="fa-IR">
                <a:solidFill>
                  <a:srgbClr val="262626"/>
                </a:solidFill>
                <a:latin typeface="Tahoma"/>
                <a:cs typeface="Tahoma"/>
                <a:ea typeface="Tahoma"/>
              </a:rPr>
              <a:t>• خام: d_A = 1.005 و d_B = 1.200، پس A یعنی نمونه‌ی ترمز</a:t>
            </a:r>
          </a:p>
          <a:p>
            <a:pPr algn="r" rtl="1">
              <a:spcAft>
                <a:spcPts val="1000"/>
              </a:spcAft>
            </a:pPr>
            <a:r>
              <a:rPr sz="2000" b="0" i="0" lang="fa-IR">
                <a:solidFill>
                  <a:srgbClr val="262626"/>
                </a:solidFill>
                <a:latin typeface="Tahoma"/>
                <a:cs typeface="Tahoma"/>
                <a:ea typeface="Tahoma"/>
              </a:rPr>
              <a:t>• مقیاس با σ برابر 3.0 m و 0.4 m/s²: d_A = 2.500 و d_B = 0.400</a:t>
            </a:r>
          </a:p>
          <a:p>
            <a:pPr algn="r" rtl="1">
              <a:spcAft>
                <a:spcPts val="1000"/>
              </a:spcAft>
            </a:pPr>
            <a:r>
              <a:rPr sz="2000" b="0" i="0" lang="fa-IR">
                <a:solidFill>
                  <a:srgbClr val="262626"/>
                </a:solidFill>
                <a:latin typeface="Tahoma"/>
                <a:cs typeface="Tahoma"/>
                <a:ea typeface="Tahoma"/>
              </a:rPr>
              <a:t>• حالا B، نمونه‌ی حرکت یکنواخت، نزدیک‌ترین است</a:t>
            </a:r>
          </a:p>
          <a:p>
            <a:pPr algn="r" rtl="1">
              <a:spcAft>
                <a:spcPts val="1000"/>
              </a:spcAft>
            </a:pPr>
            <a:r>
              <a:rPr sz="2000" b="0" i="0" lang="fa-IR">
                <a:solidFill>
                  <a:srgbClr val="262626"/>
                </a:solidFill>
                <a:latin typeface="Tahoma"/>
                <a:cs typeface="Tahoma"/>
                <a:ea typeface="Tahoma"/>
              </a:rPr>
              <a:t>• واحدها نباید تعیین کنند چه چیزی شبیه است</a:t>
            </a:r>
          </a:p>
        </p:txBody>
      </p:sp>
      <p:pic>
        <p:nvPicPr>
          <p:cNvPr id="5" name="Picture 4" descr="fig_scaling.png"/>
          <p:cNvPicPr>
            <a:picLocks noChangeAspect="1"/>
          </p:cNvPicPr>
          <p:nvPr/>
        </p:nvPicPr>
        <p:blipFill>
          <a:blip r:embed="rId2"/>
          <a:stretch>
            <a:fillRect/>
          </a:stretch>
        </p:blipFill>
        <p:spPr>
          <a:xfrm>
            <a:off x="457200" y="1371600"/>
            <a:ext cx="5150815" cy="1961058"/>
          </a:xfrm>
          <a:prstGeom prst="rect">
            <a:avLst/>
          </a:prstGeom>
        </p:spPr>
      </p:pic>
      <p:sp>
        <p:nvSpPr>
          <p:cNvPr id="6" name="TextBox 5"/>
          <p:cNvSpPr txBox="1"/>
          <p:nvPr/>
        </p:nvSpPr>
        <p:spPr>
          <a:xfrm>
            <a:off x="457200" y="6400800"/>
            <a:ext cx="11277295" cy="365760"/>
          </a:xfrm>
          <a:prstGeom prst="rect">
            <a:avLst/>
          </a:prstGeom>
          <a:noFill/>
        </p:spPr>
        <p:txBody>
          <a:bodyPr wrap="square">
            <a:spAutoFit/>
          </a:bodyPr>
          <a:lstStyle/>
          <a:p>
            <a:pPr algn="r" rtl="1">
              <a:spcAft>
                <a:spcPts val="1000"/>
              </a:spcAft>
            </a:pPr>
            <a:r>
              <a:rPr sz="1100" b="0" i="0" lang="fa-IR">
                <a:solidFill>
                  <a:srgbClr val="595959"/>
                </a:solidFill>
                <a:latin typeface="Tahoma"/>
                <a:cs typeface="Tahoma"/>
                <a:ea typeface="Tahoma"/>
              </a:rPr>
              <a:t>هفته‌ی ۰۵ | مهندسی داده   |   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r" rtl="1">
              <a:spcAft>
                <a:spcPts val="1000"/>
              </a:spcAft>
            </a:pPr>
            <a:r>
              <a:rPr sz="3000" b="1" i="0" lang="fa-IR">
                <a:solidFill>
                  <a:srgbClr val="1F3A5F"/>
                </a:solidFill>
                <a:latin typeface="Tahoma"/>
                <a:cs typeface="Tahoma"/>
                <a:ea typeface="Tahoma"/>
              </a:rPr>
              <a:t>سه مقیاس‌گذار و یک قاعده</a:t>
            </a:r>
          </a:p>
        </p:txBody>
      </p:sp>
      <p:sp>
        <p:nvSpPr>
          <p:cNvPr id="4" name="TextBox 3"/>
          <p:cNvSpPr txBox="1"/>
          <p:nvPr/>
        </p:nvSpPr>
        <p:spPr>
          <a:xfrm>
            <a:off x="5882335" y="1371600"/>
            <a:ext cx="5852160" cy="4846320"/>
          </a:xfrm>
          <a:prstGeom prst="rect">
            <a:avLst/>
          </a:prstGeom>
          <a:noFill/>
        </p:spPr>
        <p:txBody>
          <a:bodyPr wrap="square">
            <a:spAutoFit/>
          </a:bodyPr>
          <a:lstStyle/>
          <a:p>
            <a:pPr algn="r" rtl="1">
              <a:spcAft>
                <a:spcPts val="1000"/>
              </a:spcAft>
            </a:pPr>
            <a:r>
              <a:rPr sz="2000" b="0" i="0" lang="fa-IR">
                <a:solidFill>
                  <a:srgbClr val="262626"/>
                </a:solidFill>
                <a:latin typeface="Tahoma"/>
                <a:cs typeface="Tahoma"/>
                <a:ea typeface="Tahoma"/>
              </a:rPr>
              <a:t>• امتیاز z: (x − μ)/σ؛ کمینه-بیشینه: (x − min)/(max − min)؛ مقاوم: (x − median)/IQR</a:t>
            </a:r>
          </a:p>
          <a:p>
            <a:pPr algn="r" rtl="1">
              <a:spcAft>
                <a:spcPts val="1000"/>
              </a:spcAft>
            </a:pPr>
            <a:r>
              <a:rPr sz="2000" b="0" i="0" lang="fa-IR">
                <a:solidFill>
                  <a:srgbClr val="262626"/>
                </a:solidFill>
                <a:latin typeface="Tahoma"/>
                <a:cs typeface="Tahoma"/>
                <a:ea typeface="Tahoma"/>
              </a:rPr>
              <a:t>• هر مقیاس‌گذار، جایگذار و برش‌دهنده عددی را از داده می‌آموزد</a:t>
            </a:r>
          </a:p>
          <a:p>
            <a:pPr algn="r" rtl="1">
              <a:spcAft>
                <a:spcPts val="1000"/>
              </a:spcAft>
            </a:pPr>
            <a:r>
              <a:rPr sz="2000" b="0" i="0" lang="fa-IR">
                <a:solidFill>
                  <a:srgbClr val="262626"/>
                </a:solidFill>
                <a:latin typeface="Tahoma"/>
                <a:cs typeface="Tahoma"/>
                <a:ea typeface="Tahoma"/>
              </a:rPr>
              <a:t>• آن را فقط از سطرهای آموزش بیاموزید و همان عدد را روی آزمون اعمال کنید</a:t>
            </a:r>
          </a:p>
          <a:p>
            <a:pPr algn="r" rtl="1">
              <a:spcAft>
                <a:spcPts val="1000"/>
              </a:spcAft>
            </a:pPr>
            <a:r>
              <a:rPr sz="2000" b="0" i="0" lang="fa-IR">
                <a:solidFill>
                  <a:srgbClr val="262626"/>
                </a:solidFill>
                <a:latin typeface="Tahoma"/>
                <a:cs typeface="Tahoma"/>
                <a:ea typeface="Tahoma"/>
              </a:rPr>
              <a:t>• ColumnStatStage: متد قالبی fit ← learn() و transform ← apply()</a:t>
            </a:r>
          </a:p>
          <a:p>
            <a:pPr algn="r" rtl="1">
              <a:spcAft>
                <a:spcPts val="1000"/>
              </a:spcAft>
            </a:pPr>
            <a:r>
              <a:rPr sz="2000" b="0" i="0" lang="fa-IR">
                <a:solidFill>
                  <a:srgbClr val="262626"/>
                </a:solidFill>
                <a:latin typeface="Tahoma"/>
                <a:cs typeface="Tahoma"/>
                <a:ea typeface="Tahoma"/>
              </a:rPr>
              <a:t>• مقدار آزمون بیرون از [0, 1] پس از کمینه-بیشینه یک یافته است، نه باگ</a:t>
            </a:r>
          </a:p>
        </p:txBody>
      </p:sp>
      <p:sp>
        <p:nvSpPr>
          <p:cNvPr id="5" name="Rounded Rectangle 4"/>
          <p:cNvSpPr/>
          <p:nvPr/>
        </p:nvSpPr>
        <p:spPr>
          <a:xfrm>
            <a:off x="45720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rtl="1"/>
            <a:r>
              <a:rPr sz="1600" b="0" i="1" lang="fa-IR">
                <a:solidFill>
                  <a:srgbClr val="595959"/>
                </a:solidFill>
                <a:latin typeface="Tahoma"/>
                <a:cs typeface="Tahoma"/>
                <a:ea typeface="Tahoma"/>
              </a:rPr>
              <a:t>تصویر: نمودار UML: ColumnStatStage (learn و apply انتزاعی؛ fit و transform) با زیرکلاس‌های ImputeMedian، MinMaxScale، RobustScale و IQRClipper خط‌چین (تکلیف ۲).</a:t>
            </a:r>
          </a:p>
        </p:txBody>
      </p:sp>
      <p:sp>
        <p:nvSpPr>
          <p:cNvPr id="6" name="TextBox 5"/>
          <p:cNvSpPr txBox="1"/>
          <p:nvPr/>
        </p:nvSpPr>
        <p:spPr>
          <a:xfrm>
            <a:off x="457200" y="6400800"/>
            <a:ext cx="11277295" cy="365760"/>
          </a:xfrm>
          <a:prstGeom prst="rect">
            <a:avLst/>
          </a:prstGeom>
          <a:noFill/>
        </p:spPr>
        <p:txBody>
          <a:bodyPr wrap="square">
            <a:spAutoFit/>
          </a:bodyPr>
          <a:lstStyle/>
          <a:p>
            <a:pPr algn="r" rtl="1">
              <a:spcAft>
                <a:spcPts val="1000"/>
              </a:spcAft>
            </a:pPr>
            <a:r>
              <a:rPr sz="1100" b="0" i="0" lang="fa-IR">
                <a:solidFill>
                  <a:srgbClr val="595959"/>
                </a:solidFill>
                <a:latin typeface="Tahoma"/>
                <a:cs typeface="Tahoma"/>
                <a:ea typeface="Tahoma"/>
              </a:rPr>
              <a:t>هفته‌ی ۰۵ | مهندسی داده   |   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r" rtl="1">
              <a:spcAft>
                <a:spcPts val="1000"/>
              </a:spcAft>
            </a:pPr>
            <a:r>
              <a:rPr sz="3000" b="1" i="0" lang="fa-IR">
                <a:solidFill>
                  <a:srgbClr val="1F3A5F"/>
                </a:solidFill>
                <a:latin typeface="Tahoma"/>
                <a:cs typeface="Tahoma"/>
                <a:ea typeface="Tahoma"/>
              </a:rPr>
              <a:t>نشت داده: وقتی مجموعه‌ی آزمون واقعاً دیده‌نشده نیست</a:t>
            </a:r>
          </a:p>
        </p:txBody>
      </p:sp>
      <p:sp>
        <p:nvSpPr>
          <p:cNvPr id="4" name="TextBox 3"/>
          <p:cNvSpPr txBox="1"/>
          <p:nvPr/>
        </p:nvSpPr>
        <p:spPr>
          <a:xfrm>
            <a:off x="5882335" y="1371600"/>
            <a:ext cx="5852160" cy="4846320"/>
          </a:xfrm>
          <a:prstGeom prst="rect">
            <a:avLst/>
          </a:prstGeom>
          <a:noFill/>
        </p:spPr>
        <p:txBody>
          <a:bodyPr wrap="square">
            <a:spAutoFit/>
          </a:bodyPr>
          <a:lstStyle/>
          <a:p>
            <a:pPr algn="r" rtl="1">
              <a:spcAft>
                <a:spcPts val="1000"/>
              </a:spcAft>
            </a:pPr>
            <a:r>
              <a:rPr sz="2000" b="0" i="0" lang="fa-IR">
                <a:solidFill>
                  <a:srgbClr val="262626"/>
                </a:solidFill>
                <a:latin typeface="Tahoma"/>
                <a:cs typeface="Tahoma"/>
                <a:ea typeface="Tahoma"/>
              </a:rPr>
              <a:t>• آماره‌های پیش‌پردازش که پیش از تقسیم محاسبه شده‌اند</a:t>
            </a:r>
          </a:p>
          <a:p>
            <a:pPr algn="r" rtl="1">
              <a:spcAft>
                <a:spcPts val="1000"/>
              </a:spcAft>
            </a:pPr>
            <a:r>
              <a:rPr sz="2000" b="0" i="0" lang="fa-IR">
                <a:solidFill>
                  <a:srgbClr val="262626"/>
                </a:solidFill>
                <a:latin typeface="Tahoma"/>
                <a:cs typeface="Tahoma"/>
                <a:ea typeface="Tahoma"/>
              </a:rPr>
              <a:t>• ویژگی‌هایی که هنگام پیش‌بینی وجود ندارند (نمونه‌های آینده)</a:t>
            </a:r>
          </a:p>
          <a:p>
            <a:pPr algn="r" rtl="1">
              <a:spcAft>
                <a:spcPts val="1000"/>
              </a:spcAft>
            </a:pPr>
            <a:r>
              <a:rPr sz="2000" b="0" i="0" lang="fa-IR">
                <a:solidFill>
                  <a:srgbClr val="262626"/>
                </a:solidFill>
                <a:latin typeface="Tahoma"/>
                <a:cs typeface="Tahoma"/>
                <a:ea typeface="Tahoma"/>
              </a:rPr>
              <a:t>• هدف‌هایی که به دوره‌ی آزمون یا اجرای دیگر می‌رسند</a:t>
            </a:r>
          </a:p>
          <a:p>
            <a:pPr algn="r" rtl="1">
              <a:spcAft>
                <a:spcPts val="1000"/>
              </a:spcAft>
            </a:pPr>
            <a:r>
              <a:rPr sz="2000" b="0" i="0" lang="fa-IR">
                <a:solidFill>
                  <a:srgbClr val="262626"/>
                </a:solidFill>
                <a:latin typeface="Tahoma"/>
                <a:cs typeface="Tahoma"/>
                <a:ea typeface="Tahoma"/>
              </a:rPr>
              <a:t>• تقسیم تصادفی سری زمانی: دوقلوهای ۱۰ هرتزی در دو طرف</a:t>
            </a:r>
          </a:p>
          <a:p>
            <a:pPr algn="r" rtl="1">
              <a:spcAft>
                <a:spcPts val="1000"/>
              </a:spcAft>
            </a:pPr>
            <a:r>
              <a:rPr sz="2000" b="0" i="0" lang="fa-IR">
                <a:solidFill>
                  <a:srgbClr val="262626"/>
                </a:solidFill>
                <a:latin typeface="Tahoma"/>
                <a:cs typeface="Tahoma"/>
                <a:ea typeface="Tahoma"/>
              </a:rPr>
              <a:t>• احتمال اینکه سطر آزمون همسایه‌ی آموزشی داشته باشد: 1 − 0.25² = 0.94</a:t>
            </a:r>
          </a:p>
        </p:txBody>
      </p:sp>
      <p:sp>
        <p:nvSpPr>
          <p:cNvPr id="5" name="Rounded Rectangle 4"/>
          <p:cNvSpPr/>
          <p:nvPr/>
        </p:nvSpPr>
        <p:spPr>
          <a:xfrm>
            <a:off x="45720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rtl="1"/>
            <a:r>
              <a:rPr sz="1600" b="0" i="1" lang="fa-IR">
                <a:solidFill>
                  <a:srgbClr val="595959"/>
                </a:solidFill>
                <a:latin typeface="Tahoma"/>
                <a:cs typeface="Tahoma"/>
                <a:ea typeface="Tahoma"/>
              </a:rPr>
              <a:t>تصویر: خط زمانی ۲۰ نمونه با ۱۰ هرتز؛ نمونه‌های آزمون قرمز در میان نمونه‌های آموزش آبی پراکنده‌اند و هر قرمز بین دو آبی با فاصله‌ی 0.1 ثانیه قرار دارد.</a:t>
            </a:r>
          </a:p>
        </p:txBody>
      </p:sp>
      <p:sp>
        <p:nvSpPr>
          <p:cNvPr id="6" name="TextBox 5"/>
          <p:cNvSpPr txBox="1"/>
          <p:nvPr/>
        </p:nvSpPr>
        <p:spPr>
          <a:xfrm>
            <a:off x="457200" y="6400800"/>
            <a:ext cx="11277295" cy="365760"/>
          </a:xfrm>
          <a:prstGeom prst="rect">
            <a:avLst/>
          </a:prstGeom>
          <a:noFill/>
        </p:spPr>
        <p:txBody>
          <a:bodyPr wrap="square">
            <a:spAutoFit/>
          </a:bodyPr>
          <a:lstStyle/>
          <a:p>
            <a:pPr algn="r" rtl="1">
              <a:spcAft>
                <a:spcPts val="1000"/>
              </a:spcAft>
            </a:pPr>
            <a:r>
              <a:rPr sz="1100" b="0" i="0" lang="fa-IR">
                <a:solidFill>
                  <a:srgbClr val="595959"/>
                </a:solidFill>
                <a:latin typeface="Tahoma"/>
                <a:cs typeface="Tahoma"/>
                <a:ea typeface="Tahoma"/>
              </a:rPr>
              <a:t>هفته‌ی ۰۵ | مهندسی داده   |   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r" rtl="1">
              <a:spcAft>
                <a:spcPts val="1000"/>
              </a:spcAft>
            </a:pPr>
            <a:r>
              <a:rPr sz="3000" b="1" i="0" lang="fa-IR">
                <a:solidFill>
                  <a:srgbClr val="E07A1F"/>
                </a:solidFill>
                <a:latin typeface="Tahoma"/>
                <a:cs typeface="Tahoma"/>
                <a:ea typeface="Tahoma"/>
              </a:rPr>
              <a:t>مثال ۶: چهار روش تقسیم، یک مدل</a:t>
            </a:r>
          </a:p>
        </p:txBody>
      </p:sp>
      <p:sp>
        <p:nvSpPr>
          <p:cNvPr id="4" name="TextBox 3"/>
          <p:cNvSpPr txBox="1"/>
          <p:nvPr/>
        </p:nvSpPr>
        <p:spPr>
          <a:xfrm>
            <a:off x="5882335" y="1371600"/>
            <a:ext cx="5852160" cy="4846320"/>
          </a:xfrm>
          <a:prstGeom prst="rect">
            <a:avLst/>
          </a:prstGeom>
          <a:noFill/>
        </p:spPr>
        <p:txBody>
          <a:bodyPr wrap="square">
            <a:spAutoFit/>
          </a:bodyPr>
          <a:lstStyle/>
          <a:p>
            <a:pPr algn="r" rtl="1">
              <a:spcAft>
                <a:spcPts val="1000"/>
              </a:spcAft>
            </a:pPr>
            <a:r>
              <a:rPr sz="2000" b="0" i="0" lang="fa-IR">
                <a:solidFill>
                  <a:srgbClr val="262626"/>
                </a:solidFill>
                <a:latin typeface="Tahoma"/>
                <a:cs typeface="Tahoma"/>
                <a:ea typeface="Tahoma"/>
              </a:rPr>
              <a:t>• سطرهای تصادفی: k-NN 0.319 m (نشتی)</a:t>
            </a:r>
          </a:p>
          <a:p>
            <a:pPr algn="r" rtl="1">
              <a:spcAft>
                <a:spcPts val="1000"/>
              </a:spcAft>
            </a:pPr>
            <a:r>
              <a:rPr sz="2000" b="0" i="0" lang="fa-IR">
                <a:solidFill>
                  <a:srgbClr val="262626"/>
                </a:solidFill>
                <a:latin typeface="Tahoma"/>
                <a:cs typeface="Tahoma"/>
                <a:ea typeface="Tahoma"/>
              </a:rPr>
              <a:t>• زمانی: 0.634 m (نشتی: یک اجرا دو نیم شده)</a:t>
            </a:r>
          </a:p>
          <a:p>
            <a:pPr algn="r" rtl="1">
              <a:spcAft>
                <a:spcPts val="1000"/>
              </a:spcAft>
            </a:pPr>
            <a:r>
              <a:rPr sz="2000" b="0" i="0" lang="fa-IR">
                <a:solidFill>
                  <a:srgbClr val="262626"/>
                </a:solidFill>
                <a:latin typeface="Tahoma"/>
                <a:cs typeface="Tahoma"/>
                <a:ea typeface="Tahoma"/>
              </a:rPr>
              <a:t>• زمانی با فاصله‌ی ۱۰ سطری: 0.634 m (سالم)</a:t>
            </a:r>
          </a:p>
          <a:p>
            <a:pPr algn="r" rtl="1">
              <a:spcAft>
                <a:spcPts val="1000"/>
              </a:spcAft>
            </a:pPr>
            <a:r>
              <a:rPr sz="2000" b="0" i="0" lang="fa-IR">
                <a:solidFill>
                  <a:srgbClr val="262626"/>
                </a:solidFill>
                <a:latin typeface="Tahoma"/>
                <a:cs typeface="Tahoma"/>
                <a:ea typeface="Tahoma"/>
              </a:rPr>
              <a:t>• بر اساس اجرا (GroupHoldoutSplit): 0.641 m (سالم): پرسش واقعی</a:t>
            </a:r>
          </a:p>
          <a:p>
            <a:pPr algn="r" rtl="1">
              <a:spcAft>
                <a:spcPts val="1000"/>
              </a:spcAft>
            </a:pPr>
            <a:r>
              <a:rPr sz="2000" b="0" i="0" lang="fa-IR">
                <a:solidFill>
                  <a:srgbClr val="262626"/>
                </a:solidFill>
                <a:latin typeface="Tahoma"/>
                <a:cs typeface="Tahoma"/>
                <a:ea typeface="Tahoma"/>
              </a:rPr>
              <a:t>• مدل خطی: 0.098 تا 0.121 m، هر تقسیمی که باشد</a:t>
            </a:r>
          </a:p>
        </p:txBody>
      </p:sp>
      <p:pic>
        <p:nvPicPr>
          <p:cNvPr id="5" name="Picture 4" descr="fig_split_leakage.png"/>
          <p:cNvPicPr>
            <a:picLocks noChangeAspect="1"/>
          </p:cNvPicPr>
          <p:nvPr/>
        </p:nvPicPr>
        <p:blipFill>
          <a:blip r:embed="rId2"/>
          <a:stretch>
            <a:fillRect/>
          </a:stretch>
        </p:blipFill>
        <p:spPr>
          <a:xfrm>
            <a:off x="457200" y="1371600"/>
            <a:ext cx="5150815" cy="1685434"/>
          </a:xfrm>
          <a:prstGeom prst="rect">
            <a:avLst/>
          </a:prstGeom>
        </p:spPr>
      </p:pic>
      <p:sp>
        <p:nvSpPr>
          <p:cNvPr id="6" name="TextBox 5"/>
          <p:cNvSpPr txBox="1"/>
          <p:nvPr/>
        </p:nvSpPr>
        <p:spPr>
          <a:xfrm>
            <a:off x="457200" y="6400800"/>
            <a:ext cx="11277295" cy="365760"/>
          </a:xfrm>
          <a:prstGeom prst="rect">
            <a:avLst/>
          </a:prstGeom>
          <a:noFill/>
        </p:spPr>
        <p:txBody>
          <a:bodyPr wrap="square">
            <a:spAutoFit/>
          </a:bodyPr>
          <a:lstStyle/>
          <a:p>
            <a:pPr algn="r" rtl="1">
              <a:spcAft>
                <a:spcPts val="1000"/>
              </a:spcAft>
            </a:pPr>
            <a:r>
              <a:rPr sz="1100" b="0" i="0" lang="fa-IR">
                <a:solidFill>
                  <a:srgbClr val="595959"/>
                </a:solidFill>
                <a:latin typeface="Tahoma"/>
                <a:cs typeface="Tahoma"/>
                <a:ea typeface="Tahoma"/>
              </a:rPr>
              <a:t>هفته‌ی ۰۵ | مهندسی داده   |   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r" rtl="1">
              <a:spcAft>
                <a:spcPts val="1000"/>
              </a:spcAft>
            </a:pPr>
            <a:r>
              <a:rPr sz="3000" b="1" i="0" lang="fa-IR">
                <a:solidFill>
                  <a:srgbClr val="1F3A5F"/>
                </a:solidFill>
                <a:latin typeface="Tahoma"/>
                <a:cs typeface="Tahoma"/>
                <a:ea typeface="Tahoma"/>
              </a:rPr>
              <a:t>ویژگی‌های غیرعلّی و اعتبارسنجی سری زمانی</a:t>
            </a:r>
          </a:p>
        </p:txBody>
      </p:sp>
      <p:sp>
        <p:nvSpPr>
          <p:cNvPr id="4" name="TextBox 3"/>
          <p:cNvSpPr txBox="1"/>
          <p:nvPr/>
        </p:nvSpPr>
        <p:spPr>
          <a:xfrm>
            <a:off x="5882335" y="1371600"/>
            <a:ext cx="5852160" cy="4846320"/>
          </a:xfrm>
          <a:prstGeom prst="rect">
            <a:avLst/>
          </a:prstGeom>
          <a:noFill/>
        </p:spPr>
        <p:txBody>
          <a:bodyPr wrap="square">
            <a:spAutoFit/>
          </a:bodyPr>
          <a:lstStyle/>
          <a:p>
            <a:pPr algn="r" rtl="1">
              <a:spcAft>
                <a:spcPts val="1000"/>
              </a:spcAft>
            </a:pPr>
            <a:r>
              <a:rPr sz="2000" b="0" i="0" lang="fa-IR">
                <a:solidFill>
                  <a:srgbClr val="262626"/>
                </a:solidFill>
                <a:latin typeface="Tahoma"/>
                <a:cs typeface="Tahoma"/>
                <a:ea typeface="Tahoma"/>
              </a:rPr>
              <a:t>• RollingMean هفته‌ی ۳ متقارن است: از نمونه‌های آینده استفاده می‌کند</a:t>
            </a:r>
          </a:p>
          <a:p>
            <a:pPr algn="r" rtl="1">
              <a:spcAft>
                <a:spcPts val="1000"/>
              </a:spcAft>
            </a:pPr>
            <a:r>
              <a:rPr sz="2000" b="0" i="0" lang="fa-IR">
                <a:solidFill>
                  <a:srgbClr val="262626"/>
                </a:solidFill>
                <a:latin typeface="Tahoma"/>
                <a:cs typeface="Tahoma"/>
                <a:ea typeface="Tahoma"/>
              </a:rPr>
              <a:t>• CausalRollingMean فقط از گذشته استفاده می‌کند: روی ربات قابل اجراست</a:t>
            </a:r>
          </a:p>
          <a:p>
            <a:pPr algn="r" rtl="1">
              <a:spcAft>
                <a:spcPts val="1000"/>
              </a:spcAft>
            </a:pPr>
            <a:r>
              <a:rPr sz="2000" b="0" i="0" lang="fa-IR">
                <a:solidFill>
                  <a:srgbClr val="262626"/>
                </a:solidFill>
                <a:latin typeface="Tahoma"/>
                <a:cs typeface="Tahoma"/>
                <a:ea typeface="Tahoma"/>
              </a:rPr>
              <a:t>• ChronologicalSplit(gap = افق) هدف‌های هم‌پوشان را حذف می‌کند</a:t>
            </a:r>
          </a:p>
          <a:p>
            <a:pPr algn="r" rtl="1">
              <a:spcAft>
                <a:spcPts val="1000"/>
              </a:spcAft>
            </a:pPr>
            <a:r>
              <a:rPr sz="2000" b="0" i="0" lang="fa-IR">
                <a:solidFill>
                  <a:srgbClr val="262626"/>
                </a:solidFill>
                <a:latin typeface="Tahoma"/>
                <a:cs typeface="Tahoma"/>
                <a:ea typeface="Tahoma"/>
              </a:rPr>
              <a:t>• ExpandingWindowCV: آموزش روی بلوک‌های 1 تا k، آزمون روی بلوک k + 1</a:t>
            </a:r>
          </a:p>
          <a:p>
            <a:pPr algn="r" rtl="1">
              <a:spcAft>
                <a:spcPts val="1000"/>
              </a:spcAft>
            </a:pPr>
            <a:r>
              <a:rPr sz="2000" b="0" i="0" lang="fa-IR">
                <a:solidFill>
                  <a:srgbClr val="262626"/>
                </a:solidFill>
                <a:latin typeface="Tahoma"/>
                <a:cs typeface="Tahoma"/>
                <a:ea typeface="Tahoma"/>
              </a:rPr>
              <a:t>• هفته‌ی ۷: چنین تقسیم‌کننده‌ای را به GridSearchCV بدهید</a:t>
            </a:r>
          </a:p>
        </p:txBody>
      </p:sp>
      <p:sp>
        <p:nvSpPr>
          <p:cNvPr id="5" name="Rounded Rectangle 4"/>
          <p:cNvSpPr/>
          <p:nvPr/>
        </p:nvSpPr>
        <p:spPr>
          <a:xfrm>
            <a:off x="45720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rtl="1"/>
            <a:r>
              <a:rPr sz="1600" b="0" i="1" lang="fa-IR">
                <a:solidFill>
                  <a:srgbClr val="595959"/>
                </a:solidFill>
                <a:latin typeface="Tahoma"/>
                <a:cs typeface="Tahoma"/>
                <a:ea typeface="Tahoma"/>
              </a:rPr>
              <a:t>تصویر: ورودی پله‌ای 0، 0، 0، 0، 9، 9: میانگین متقارن (پنجره‌ی ۳) در اندیس ۳، پیش از پله، بالا می‌رود؛ میانگین پسرو در اندیس ۴. زیر آن، چهار تاخوردگی پنجره‌ی گسترش‌یابنده به‌صورت نوارهای رنگی.</a:t>
            </a:r>
          </a:p>
        </p:txBody>
      </p:sp>
      <p:sp>
        <p:nvSpPr>
          <p:cNvPr id="6" name="TextBox 5"/>
          <p:cNvSpPr txBox="1"/>
          <p:nvPr/>
        </p:nvSpPr>
        <p:spPr>
          <a:xfrm>
            <a:off x="457200" y="6400800"/>
            <a:ext cx="11277295" cy="365760"/>
          </a:xfrm>
          <a:prstGeom prst="rect">
            <a:avLst/>
          </a:prstGeom>
          <a:noFill/>
        </p:spPr>
        <p:txBody>
          <a:bodyPr wrap="square">
            <a:spAutoFit/>
          </a:bodyPr>
          <a:lstStyle/>
          <a:p>
            <a:pPr algn="r" rtl="1">
              <a:spcAft>
                <a:spcPts val="1000"/>
              </a:spcAft>
            </a:pPr>
            <a:r>
              <a:rPr sz="1100" b="0" i="0" lang="fa-IR">
                <a:solidFill>
                  <a:srgbClr val="595959"/>
                </a:solidFill>
                <a:latin typeface="Tahoma"/>
                <a:cs typeface="Tahoma"/>
                <a:ea typeface="Tahoma"/>
              </a:rPr>
              <a:t>هفته‌ی ۰۵ | مهندسی داده   |   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r" rtl="1">
              <a:spcAft>
                <a:spcPts val="1000"/>
              </a:spcAft>
            </a:pPr>
            <a:r>
              <a:rPr sz="3000" b="1" i="0" lang="fa-IR">
                <a:solidFill>
                  <a:srgbClr val="1F3A5F"/>
                </a:solidFill>
                <a:latin typeface="Tahoma"/>
                <a:cs typeface="Tahoma"/>
                <a:ea typeface="Tahoma"/>
              </a:rPr>
              <a:t>گردش کار بدون نشت</a:t>
            </a:r>
          </a:p>
        </p:txBody>
      </p:sp>
      <p:sp>
        <p:nvSpPr>
          <p:cNvPr id="4" name="TextBox 3"/>
          <p:cNvSpPr txBox="1"/>
          <p:nvPr/>
        </p:nvSpPr>
        <p:spPr>
          <a:xfrm>
            <a:off x="5882335" y="1371600"/>
            <a:ext cx="5852160" cy="4846320"/>
          </a:xfrm>
          <a:prstGeom prst="rect">
            <a:avLst/>
          </a:prstGeom>
          <a:noFill/>
        </p:spPr>
        <p:txBody>
          <a:bodyPr wrap="square">
            <a:spAutoFit/>
          </a:bodyPr>
          <a:lstStyle/>
          <a:p>
            <a:pPr algn="r" rtl="1">
              <a:spcAft>
                <a:spcPts val="1000"/>
              </a:spcAft>
            </a:pPr>
            <a:r>
              <a:rPr sz="2000" b="0" i="0" lang="fa-IR">
                <a:solidFill>
                  <a:srgbClr val="262626"/>
                </a:solidFill>
                <a:latin typeface="Tahoma"/>
                <a:cs typeface="Tahoma"/>
                <a:ea typeface="Tahoma"/>
              </a:rPr>
              <a:t>• ۱. پاک‌سازی بدون حالت روی کل لاگ، هر بار یک اجرا</a:t>
            </a:r>
          </a:p>
          <a:p>
            <a:pPr algn="r" rtl="1">
              <a:spcAft>
                <a:spcPts val="1000"/>
              </a:spcAft>
            </a:pPr>
            <a:r>
              <a:rPr sz="2000" b="0" i="0" lang="fa-IR">
                <a:solidFill>
                  <a:srgbClr val="262626"/>
                </a:solidFill>
                <a:latin typeface="Tahoma"/>
                <a:cs typeface="Tahoma"/>
                <a:ea typeface="Tahoma"/>
              </a:rPr>
              <a:t>• ۲. تقسیم بر اساس اجرا (یا زمان، با فاصله)</a:t>
            </a:r>
          </a:p>
          <a:p>
            <a:pPr algn="r" rtl="1">
              <a:spcAft>
                <a:spcPts val="1000"/>
              </a:spcAft>
            </a:pPr>
            <a:r>
              <a:rPr sz="2000" b="0" i="0" lang="fa-IR">
                <a:solidFill>
                  <a:srgbClr val="262626"/>
                </a:solidFill>
                <a:latin typeface="Tahoma"/>
                <a:cs typeface="Tahoma"/>
                <a:ea typeface="Tahoma"/>
              </a:rPr>
              <a:t>• ۳. برازش مرحله‌های آموختنی (جایگذاری، برش، مقیاس) روی سطرهای آموزش</a:t>
            </a:r>
          </a:p>
          <a:p>
            <a:pPr algn="r" rtl="1">
              <a:spcAft>
                <a:spcPts val="1000"/>
              </a:spcAft>
            </a:pPr>
            <a:r>
              <a:rPr sz="2000" b="0" i="0" lang="fa-IR">
                <a:solidFill>
                  <a:srgbClr val="262626"/>
                </a:solidFill>
                <a:latin typeface="Tahoma"/>
                <a:cs typeface="Tahoma"/>
                <a:ea typeface="Tahoma"/>
              </a:rPr>
              <a:t>• ۴. تبدیل سطرهای آموزش و آزمون با همان خط لوله‌ی برازش‌شده</a:t>
            </a:r>
          </a:p>
          <a:p>
            <a:pPr algn="r" rtl="1">
              <a:spcAft>
                <a:spcPts val="1000"/>
              </a:spcAft>
            </a:pPr>
            <a:r>
              <a:rPr sz="2000" b="0" i="0" lang="fa-IR">
                <a:solidFill>
                  <a:srgbClr val="262626"/>
                </a:solidFill>
                <a:latin typeface="Tahoma"/>
                <a:cs typeface="Tahoma"/>
                <a:ea typeface="Tahoma"/>
              </a:rPr>
              <a:t>• ۵. برازش و ارزیابی مدل؛ گزارش روش تقسیم</a:t>
            </a:r>
          </a:p>
        </p:txBody>
      </p:sp>
      <p:pic>
        <p:nvPicPr>
          <p:cNvPr id="5" name="Picture 4" descr="fig_workflow.png"/>
          <p:cNvPicPr>
            <a:picLocks noChangeAspect="1"/>
          </p:cNvPicPr>
          <p:nvPr/>
        </p:nvPicPr>
        <p:blipFill>
          <a:blip r:embed="rId2"/>
          <a:stretch>
            <a:fillRect/>
          </a:stretch>
        </p:blipFill>
        <p:spPr>
          <a:xfrm>
            <a:off x="457200" y="1371600"/>
            <a:ext cx="5150815" cy="1862641"/>
          </a:xfrm>
          <a:prstGeom prst="rect">
            <a:avLst/>
          </a:prstGeom>
        </p:spPr>
      </p:pic>
      <p:sp>
        <p:nvSpPr>
          <p:cNvPr id="6" name="TextBox 5"/>
          <p:cNvSpPr txBox="1"/>
          <p:nvPr/>
        </p:nvSpPr>
        <p:spPr>
          <a:xfrm>
            <a:off x="457200" y="6400800"/>
            <a:ext cx="11277295" cy="365760"/>
          </a:xfrm>
          <a:prstGeom prst="rect">
            <a:avLst/>
          </a:prstGeom>
          <a:noFill/>
        </p:spPr>
        <p:txBody>
          <a:bodyPr wrap="square">
            <a:spAutoFit/>
          </a:bodyPr>
          <a:lstStyle/>
          <a:p>
            <a:pPr algn="r" rtl="1">
              <a:spcAft>
                <a:spcPts val="1000"/>
              </a:spcAft>
            </a:pPr>
            <a:r>
              <a:rPr sz="1100" b="0" i="0" lang="fa-IR">
                <a:solidFill>
                  <a:srgbClr val="595959"/>
                </a:solidFill>
                <a:latin typeface="Tahoma"/>
                <a:cs typeface="Tahoma"/>
                <a:ea typeface="Tahoma"/>
              </a:rPr>
              <a:t>هفته‌ی ۰۵ | مهندسی داده   |   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r" rtl="1">
              <a:spcAft>
                <a:spcPts val="1000"/>
              </a:spcAft>
            </a:pPr>
            <a:r>
              <a:rPr sz="3000" b="1" i="0" lang="fa-IR">
                <a:solidFill>
                  <a:srgbClr val="E07A1F"/>
                </a:solidFill>
                <a:latin typeface="Tahoma"/>
                <a:cs typeface="Tahoma"/>
                <a:ea typeface="Tahoma"/>
              </a:rPr>
              <a:t>مثال ۷: همان مدل، پیش و پس</a:t>
            </a:r>
          </a:p>
        </p:txBody>
      </p:sp>
      <p:sp>
        <p:nvSpPr>
          <p:cNvPr id="4" name="TextBox 3"/>
          <p:cNvSpPr txBox="1"/>
          <p:nvPr/>
        </p:nvSpPr>
        <p:spPr>
          <a:xfrm>
            <a:off x="5882335" y="1371600"/>
            <a:ext cx="5852160" cy="4846320"/>
          </a:xfrm>
          <a:prstGeom prst="rect">
            <a:avLst/>
          </a:prstGeom>
          <a:noFill/>
        </p:spPr>
        <p:txBody>
          <a:bodyPr wrap="square">
            <a:spAutoFit/>
          </a:bodyPr>
          <a:lstStyle/>
          <a:p>
            <a:pPr algn="r" rtl="1">
              <a:spcAft>
                <a:spcPts val="1000"/>
              </a:spcAft>
            </a:pPr>
            <a:r>
              <a:rPr sz="2000" b="0" i="0" lang="fa-IR">
                <a:solidFill>
                  <a:srgbClr val="262626"/>
                </a:solidFill>
                <a:latin typeface="Tahoma"/>
                <a:cs typeface="Tahoma"/>
                <a:ea typeface="Tahoma"/>
              </a:rPr>
              <a:t>• ساده‌لوحانه، تقسیم تصادفی: خطی 2.734 m و k-NN 2.285 m</a:t>
            </a:r>
          </a:p>
          <a:p>
            <a:pPr algn="r" rtl="1">
              <a:spcAft>
                <a:spcPts val="1000"/>
              </a:spcAft>
            </a:pPr>
            <a:r>
              <a:rPr sz="2000" b="0" i="0" lang="fa-IR">
                <a:solidFill>
                  <a:srgbClr val="262626"/>
                </a:solidFill>
                <a:latin typeface="Tahoma"/>
                <a:cs typeface="Tahoma"/>
                <a:ea typeface="Tahoma"/>
              </a:rPr>
              <a:t>• تمیز، تقسیم بر اساس اجرا: خطی 0.121 m و k-NN 0.641 m</a:t>
            </a:r>
          </a:p>
          <a:p>
            <a:pPr algn="r" rtl="1">
              <a:spcAft>
                <a:spcPts val="1000"/>
              </a:spcAft>
            </a:pPr>
            <a:r>
              <a:rPr sz="2000" b="0" i="0" lang="fa-IR">
                <a:solidFill>
                  <a:srgbClr val="262626"/>
                </a:solidFill>
                <a:latin typeface="Tahoma"/>
                <a:cs typeface="Tahoma"/>
                <a:ea typeface="Tahoma"/>
              </a:rPr>
              <a:t>• مدل پایه‌ی میانگین: 3.83 m، با ضریب ۳۰ شکست خورده</a:t>
            </a:r>
          </a:p>
          <a:p>
            <a:pPr algn="r" rtl="1">
              <a:spcAft>
                <a:spcPts val="1000"/>
              </a:spcAft>
            </a:pPr>
            <a:r>
              <a:rPr sz="2000" b="0" i="0" lang="fa-IR">
                <a:solidFill>
                  <a:srgbClr val="262626"/>
                </a:solidFill>
                <a:latin typeface="Tahoma"/>
                <a:cs typeface="Tahoma"/>
                <a:ea typeface="Tahoma"/>
              </a:rPr>
              <a:t>• وزن‌ها: فاصله‌ی آینده ≈ فاصله − سرعت × ۱ ثانیه، به‌علاوه‌ی کمی شتاب</a:t>
            </a:r>
          </a:p>
          <a:p>
            <a:pPr algn="r" rtl="1">
              <a:spcAft>
                <a:spcPts val="1000"/>
              </a:spcAft>
            </a:pPr>
            <a:r>
              <a:rPr sz="2000" b="0" i="0" lang="fa-IR">
                <a:solidFill>
                  <a:srgbClr val="262626"/>
                </a:solidFill>
                <a:latin typeface="Tahoma"/>
                <a:cs typeface="Tahoma"/>
                <a:ea typeface="Tahoma"/>
              </a:rPr>
              <a:t>• هر عدد این اسلاید از مخزن قابل بازتولید است</a:t>
            </a:r>
          </a:p>
        </p:txBody>
      </p:sp>
      <p:pic>
        <p:nvPicPr>
          <p:cNvPr id="5" name="Picture 4" descr="fig_forecast.png"/>
          <p:cNvPicPr>
            <a:picLocks noChangeAspect="1"/>
          </p:cNvPicPr>
          <p:nvPr/>
        </p:nvPicPr>
        <p:blipFill>
          <a:blip r:embed="rId2"/>
          <a:stretch>
            <a:fillRect/>
          </a:stretch>
        </p:blipFill>
        <p:spPr>
          <a:xfrm>
            <a:off x="457200" y="1371600"/>
            <a:ext cx="5150815" cy="1903562"/>
          </a:xfrm>
          <a:prstGeom prst="rect">
            <a:avLst/>
          </a:prstGeom>
        </p:spPr>
      </p:pic>
      <p:sp>
        <p:nvSpPr>
          <p:cNvPr id="6" name="TextBox 5"/>
          <p:cNvSpPr txBox="1"/>
          <p:nvPr/>
        </p:nvSpPr>
        <p:spPr>
          <a:xfrm>
            <a:off x="457200" y="6400800"/>
            <a:ext cx="11277295" cy="365760"/>
          </a:xfrm>
          <a:prstGeom prst="rect">
            <a:avLst/>
          </a:prstGeom>
          <a:noFill/>
        </p:spPr>
        <p:txBody>
          <a:bodyPr wrap="square">
            <a:spAutoFit/>
          </a:bodyPr>
          <a:lstStyle/>
          <a:p>
            <a:pPr algn="r" rtl="1">
              <a:spcAft>
                <a:spcPts val="1000"/>
              </a:spcAft>
            </a:pPr>
            <a:r>
              <a:rPr sz="1100" b="0" i="0" lang="fa-IR">
                <a:solidFill>
                  <a:srgbClr val="595959"/>
                </a:solidFill>
                <a:latin typeface="Tahoma"/>
                <a:cs typeface="Tahoma"/>
                <a:ea typeface="Tahoma"/>
              </a:rPr>
              <a:t>هفته‌ی ۰۵ | مهندسی داده   |   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r" rtl="1">
              <a:spcAft>
                <a:spcPts val="1000"/>
              </a:spcAft>
            </a:pPr>
            <a:r>
              <a:rPr sz="3000" b="1" i="0" lang="fa-IR">
                <a:solidFill>
                  <a:srgbClr val="1F3A5F"/>
                </a:solidFill>
                <a:latin typeface="Tahoma"/>
                <a:cs typeface="Tahoma"/>
                <a:ea typeface="Tahoma"/>
              </a:rPr>
              <a:t>کارهای این هفته</a:t>
            </a:r>
          </a:p>
        </p:txBody>
      </p:sp>
      <p:sp>
        <p:nvSpPr>
          <p:cNvPr id="4" name="TextBox 3"/>
          <p:cNvSpPr txBox="1"/>
          <p:nvPr/>
        </p:nvSpPr>
        <p:spPr>
          <a:xfrm>
            <a:off x="5882335" y="1371600"/>
            <a:ext cx="5852160" cy="4846320"/>
          </a:xfrm>
          <a:prstGeom prst="rect">
            <a:avLst/>
          </a:prstGeom>
          <a:noFill/>
        </p:spPr>
        <p:txBody>
          <a:bodyPr wrap="square">
            <a:spAutoFit/>
          </a:bodyPr>
          <a:lstStyle/>
          <a:p>
            <a:pPr algn="r" rtl="1">
              <a:spcAft>
                <a:spcPts val="1000"/>
              </a:spcAft>
            </a:pPr>
            <a:r>
              <a:rPr sz="2000" b="0" i="0" lang="fa-IR">
                <a:solidFill>
                  <a:srgbClr val="262626"/>
                </a:solidFill>
                <a:latin typeface="Tahoma"/>
                <a:cs typeface="Tahoma"/>
                <a:ea typeface="Tahoma"/>
              </a:rPr>
              <a:t>• آزمایشگاه: notebooks/week05/week05_data_engineering.ipynb (۶ تمرین)</a:t>
            </a:r>
          </a:p>
          <a:p>
            <a:pPr algn="r" rtl="1">
              <a:spcAft>
                <a:spcPts val="1000"/>
              </a:spcAft>
            </a:pPr>
            <a:r>
              <a:rPr sz="2000" b="0" i="0" lang="fa-IR">
                <a:solidFill>
                  <a:srgbClr val="262626"/>
                </a:solidFill>
                <a:latin typeface="Tahoma"/>
                <a:cs typeface="Tahoma"/>
                <a:ea typeface="Tahoma"/>
              </a:rPr>
              <a:t>• کلاس: ۴ مسئله‌ی گرم‌کردن (پژواک گردوغبار، MNAR، شکار نشت، مقیاس‌بندی)</a:t>
            </a:r>
          </a:p>
          <a:p>
            <a:pPr algn="r" rtl="1">
              <a:spcAft>
                <a:spcPts val="1000"/>
              </a:spcAft>
            </a:pPr>
            <a:r>
              <a:rPr sz="2000" b="0" i="0" lang="fa-IR">
                <a:solidFill>
                  <a:srgbClr val="262626"/>
                </a:solidFill>
                <a:latin typeface="Tahoma"/>
                <a:cs typeface="Tahoma"/>
                <a:ea typeface="Tahoma"/>
              </a:rPr>
              <a:t>• تکلیف ۲ (نمره‌دار، حدود ۴ ساعت): پاک‌سازی بدون نشت یک لاگ تازه‌ی ربات</a:t>
            </a:r>
          </a:p>
          <a:p>
            <a:pPr algn="r" rtl="1">
              <a:spcAft>
                <a:spcPts val="1000"/>
              </a:spcAft>
            </a:pPr>
            <a:r>
              <a:rPr sz="2000" b="0" i="0" lang="fa-IR">
                <a:solidFill>
                  <a:srgbClr val="262626"/>
                </a:solidFill>
                <a:latin typeface="Tahoma"/>
                <a:cs typeface="Tahoma"/>
                <a:ea typeface="Tahoma"/>
              </a:rPr>
              <a:t>• مهلت: آغاز هفته‌ی ۶</a:t>
            </a:r>
          </a:p>
        </p:txBody>
      </p:sp>
      <p:sp>
        <p:nvSpPr>
          <p:cNvPr id="5" name="Rounded Rectangle 4"/>
          <p:cNvSpPr/>
          <p:nvPr/>
        </p:nvSpPr>
        <p:spPr>
          <a:xfrm>
            <a:off x="45720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rtl="1"/>
            <a:r>
              <a:rPr sz="1600" b="0" i="1" lang="fa-IR">
                <a:solidFill>
                  <a:srgbClr val="595959"/>
                </a:solidFill>
                <a:latin typeface="Tahoma"/>
                <a:cs typeface="Tahoma"/>
                <a:ea typeface="Tahoma"/>
              </a:rPr>
              <a:t>تصویر: سه نماد: دفترچه، مداد، شاخه‌ی Git.</a:t>
            </a:r>
          </a:p>
        </p:txBody>
      </p:sp>
      <p:sp>
        <p:nvSpPr>
          <p:cNvPr id="6" name="TextBox 5"/>
          <p:cNvSpPr txBox="1"/>
          <p:nvPr/>
        </p:nvSpPr>
        <p:spPr>
          <a:xfrm>
            <a:off x="457200" y="6400800"/>
            <a:ext cx="11277295" cy="365760"/>
          </a:xfrm>
          <a:prstGeom prst="rect">
            <a:avLst/>
          </a:prstGeom>
          <a:noFill/>
        </p:spPr>
        <p:txBody>
          <a:bodyPr wrap="square">
            <a:spAutoFit/>
          </a:bodyPr>
          <a:lstStyle/>
          <a:p>
            <a:pPr algn="r" rtl="1">
              <a:spcAft>
                <a:spcPts val="1000"/>
              </a:spcAft>
            </a:pPr>
            <a:r>
              <a:rPr sz="1100" b="0" i="0" lang="fa-IR">
                <a:solidFill>
                  <a:srgbClr val="595959"/>
                </a:solidFill>
                <a:latin typeface="Tahoma"/>
                <a:cs typeface="Tahoma"/>
                <a:ea typeface="Tahoma"/>
              </a:rPr>
              <a:t>هفته‌ی ۰۵ | مهندسی داده   |   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r" rtl="1">
              <a:spcAft>
                <a:spcPts val="1000"/>
              </a:spcAft>
            </a:pPr>
            <a:r>
              <a:rPr sz="3000" b="1" i="0" lang="fa-IR">
                <a:solidFill>
                  <a:srgbClr val="1F3A5F"/>
                </a:solidFill>
                <a:latin typeface="Tahoma"/>
                <a:cs typeface="Tahoma"/>
                <a:ea typeface="Tahoma"/>
              </a:rPr>
              <a:t>آنچه اکنون می‌توانیم انجام دهیم</a:t>
            </a:r>
          </a:p>
        </p:txBody>
      </p:sp>
      <p:sp>
        <p:nvSpPr>
          <p:cNvPr id="4" name="TextBox 3"/>
          <p:cNvSpPr txBox="1"/>
          <p:nvPr/>
        </p:nvSpPr>
        <p:spPr>
          <a:xfrm>
            <a:off x="5882335" y="1371600"/>
            <a:ext cx="5852160" cy="4846320"/>
          </a:xfrm>
          <a:prstGeom prst="rect">
            <a:avLst/>
          </a:prstGeom>
          <a:noFill/>
        </p:spPr>
        <p:txBody>
          <a:bodyPr wrap="square">
            <a:spAutoFit/>
          </a:bodyPr>
          <a:lstStyle/>
          <a:p>
            <a:pPr algn="r" rtl="1">
              <a:spcAft>
                <a:spcPts val="1000"/>
              </a:spcAft>
            </a:pPr>
            <a:r>
              <a:rPr sz="2000" b="0" i="0" lang="fa-IR">
                <a:solidFill>
                  <a:srgbClr val="262626"/>
                </a:solidFill>
                <a:latin typeface="Tahoma"/>
                <a:cs typeface="Tahoma"/>
                <a:ea typeface="Tahoma"/>
              </a:rPr>
              <a:t>• ممیزی لاگ خام حسگر پیش از دست زدن به آن</a:t>
            </a:r>
          </a:p>
          <a:p>
            <a:pPr algn="r" rtl="1">
              <a:spcAft>
                <a:spcPts val="1000"/>
              </a:spcAft>
            </a:pPr>
            <a:r>
              <a:rPr sz="2000" b="0" i="0" lang="fa-IR">
                <a:solidFill>
                  <a:srgbClr val="262626"/>
                </a:solidFill>
                <a:latin typeface="Tahoma"/>
                <a:cs typeface="Tahoma"/>
                <a:ea typeface="Tahoma"/>
              </a:rPr>
              <a:t>• تشخیص سازوکار گمشدگی و انتخاب راه‌حل متناسب با آن</a:t>
            </a:r>
          </a:p>
          <a:p>
            <a:pPr algn="r" rtl="1">
              <a:spcAft>
                <a:spcPts val="1000"/>
              </a:spcAft>
            </a:pPr>
            <a:r>
              <a:rPr sz="2000" b="0" i="0" lang="fa-IR">
                <a:solidFill>
                  <a:srgbClr val="262626"/>
                </a:solidFill>
                <a:latin typeface="Tahoma"/>
                <a:cs typeface="Tahoma"/>
                <a:ea typeface="Tahoma"/>
              </a:rPr>
              <a:t>• تشخیص جهش از مانور با قاعده‌های محلی و مقاوم</a:t>
            </a:r>
          </a:p>
          <a:p>
            <a:pPr algn="r" rtl="1">
              <a:spcAft>
                <a:spcPts val="1000"/>
              </a:spcAft>
            </a:pPr>
            <a:r>
              <a:rPr sz="2000" b="0" i="0" lang="fa-IR">
                <a:solidFill>
                  <a:srgbClr val="262626"/>
                </a:solidFill>
                <a:latin typeface="Tahoma"/>
                <a:cs typeface="Tahoma"/>
                <a:ea typeface="Tahoma"/>
              </a:rPr>
              <a:t>• نگه‌داشتن گام‌های همسایه‌محور درون یک اجرا؛ مقیاس‌بندی با آماره‌های آموزش</a:t>
            </a:r>
          </a:p>
          <a:p>
            <a:pPr algn="r" rtl="1">
              <a:spcAft>
                <a:spcPts val="1000"/>
              </a:spcAft>
            </a:pPr>
            <a:r>
              <a:rPr sz="2000" b="0" i="0" lang="fa-IR">
                <a:solidFill>
                  <a:srgbClr val="262626"/>
                </a:solidFill>
                <a:latin typeface="Tahoma"/>
                <a:cs typeface="Tahoma"/>
                <a:ea typeface="Tahoma"/>
              </a:rPr>
              <a:t>• تقسیم داده‌ی زمانی و گروهی بدون نشت، و اثبات آن</a:t>
            </a:r>
          </a:p>
        </p:txBody>
      </p:sp>
      <p:sp>
        <p:nvSpPr>
          <p:cNvPr id="5" name="Rounded Rectangle 4"/>
          <p:cNvSpPr/>
          <p:nvPr/>
        </p:nvSpPr>
        <p:spPr>
          <a:xfrm>
            <a:off x="45720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rtl="1"/>
            <a:r>
              <a:rPr sz="1600" b="0" i="1" lang="fa-IR">
                <a:solidFill>
                  <a:srgbClr val="595959"/>
                </a:solidFill>
                <a:latin typeface="Tahoma"/>
                <a:cs typeface="Tahoma"/>
                <a:ea typeface="Tahoma"/>
              </a:rPr>
              <a:t>تصویر: مسیر ساده‌لوحانه‌ی آغاز جلسه خط خورده و به‌جای آن گردش کار پنج‌مرحله‌ای بدون نشت با تیک‌های سبز و RMSE از 2.73 m به 0.12 m.</a:t>
            </a:r>
          </a:p>
        </p:txBody>
      </p:sp>
      <p:sp>
        <p:nvSpPr>
          <p:cNvPr id="6" name="TextBox 5"/>
          <p:cNvSpPr txBox="1"/>
          <p:nvPr/>
        </p:nvSpPr>
        <p:spPr>
          <a:xfrm>
            <a:off x="457200" y="6400800"/>
            <a:ext cx="11277295" cy="365760"/>
          </a:xfrm>
          <a:prstGeom prst="rect">
            <a:avLst/>
          </a:prstGeom>
          <a:noFill/>
        </p:spPr>
        <p:txBody>
          <a:bodyPr wrap="square">
            <a:spAutoFit/>
          </a:bodyPr>
          <a:lstStyle/>
          <a:p>
            <a:pPr algn="r" rtl="1">
              <a:spcAft>
                <a:spcPts val="1000"/>
              </a:spcAft>
            </a:pPr>
            <a:r>
              <a:rPr sz="1100" b="0" i="0" lang="fa-IR">
                <a:solidFill>
                  <a:srgbClr val="595959"/>
                </a:solidFill>
                <a:latin typeface="Tahoma"/>
                <a:cs typeface="Tahoma"/>
                <a:ea typeface="Tahoma"/>
              </a:rPr>
              <a:t>هفته‌ی ۰۵ | مهندسی داده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