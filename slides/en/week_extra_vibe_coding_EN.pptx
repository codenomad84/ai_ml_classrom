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candidates are teaching examples written for this lab, not recorded outputs of a particular tool: say so. Ask for a show of hands before anything is run. Keep the question on the board; the last slide answers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Karpathy's wording is quoted from Simon Willison's post of 19 March 2025, which reproduces the tweet. Collins Dictionary named "vibe coding" its Word of the Year 2025. Kim and Yegge use "vibe coding" broadly for all AI-assisted programming with an engineer in charge; Willison keeps the narrow meaning. Both agree on the rule that matters for us: you sign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arithmetic on the board before showing any code output. The universal gas constant 8.314 J/(mol K) and the specific constant of dry air 287.05 J/(kg K) differ by the molar mass; a dimension check of R L / g0 catches it in one line. Right panel: candidate D, which we meet again on slide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MCO root cause, as worded by the Mishap Investigation Board Phase I report (10 Nov 1999): "failure to use metric units in the coding of a ground software file, 'Small Forces', used in trajectory models". No AI was involved: the point is that these defects are ordinary, which is why AI reproduces them. The CNC story: the assistant proposed wiping the machine's storage device and the engineer almost pressed Enter.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Section 3 and Exercise 3.1. The tolerance is justified from the rounding of the table, not chosen to make the test pass. Ask: what is the smallest test that would expose 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Sections 4 and 5. D's clamp returns 0 m for every pressure at or above 101 325 Pa: on a high-pressure day the UAV on the ground reads 0 m, and climbing the first metres shows no change. The check matrix is computed by Verifier.compare in the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PropertyCheck and DifferentialCheck in src/aerospace_ai/verification.py take a sampler and a seed. Exercise 4.1 writes the round-trip property. Differential testing needs an oracle you trust for independent reasons (here: the Week 2 function, its tests and its review).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3.88 m difference comes from C's own rounded constants (exponent 0.190284 and the feet scale). This is the Mars Climate Orbiter pattern in miniature: two correct pieces, one undocumented unit interface. Ask the AI for units explicitly and test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Section 6. Errors at h = 0.05: 1.21 × 10⁻⁷ for RK4, 6.93 × 10⁻⁶ for the typo version. A single-run tolerance test cannot see a lowered order of accuracy when the step is small enough.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 6.1 computes 2.547 by hand from the two typo errors at h = 0.05 and 0.025. The method of manufactured solutions extends this to equations without a known solution: choose the solution, derive the source term, check the order. ConvergenceCheck in the library automates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Mutant and MutationRunner in the library apply a one-place text patch to trusted source and rebuild the function. Kim and Yegge's "vanishing tests" story is exactly the case where the score drops and nobody looks.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Section 7 and Exercise 7.2. All four suites pass on the correct function, so a green CI badge alone cannot tell them apart. In the practice assignment the starter suite (two tests) kills 1 of 6 hidden mutants; a good suite kills all six.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your babies" is Kim and Yegge's Ch. 7 advice. audit_deliverables and unresolvable_imports (library) need no execution, so they are safe on code you have not read. A name that does not resolve may simply be uninstalled: check the registry and the publisher before you install anything.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facts were checked in this course's containers (NumPy 1.26.4 and 2.5.3). The Power of 10 rules were written for safety-critical C at NASA/JPL; the two quoted here transfer directly to AI-written Python: assertions as executable specification, and warnings as defects.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 is synthetic (a half-sine of 120 N over 1.6 s, exact impulse 2 F t_b / π = 122.23 N·s), generated by tools/make_week_extra_vibe_coding_data.py. Peak 120.51 N, burn time 1.541 s, average 79.37 N, Isp 191.86 s with 65 g propellant. Point: each check sees some bugs; combine a reference case on an uneven grid with the order check.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 95 % CI 21 % to 89 %; success rate +7 points, not significant. METR 2025: CI +2 % to +39 %, Cursor Pro with Claude 3.5/3.7 Sonnet, 246 issues. METR 2026 calls its own update very weak evidence because of selection effects. DORA 2024 (survey): as AI adoption increased, throughput fell 1.5 % and delivery stability 7.2 % (estimates).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hierarchy of evidence: a controlled study with stated methods outranks a vendor press release, which outranks an unsourced number. Perry et al. used codex-davinci-002. Veracode: Java worst at over 70 %; XSS defences failed in 86 % and log injection in 88 % of relevant samples (press release figures).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Vibe Coder's Handbook (AlNasser, 2026) is useful on practice but cites no sources for its statistics. We checked each one on 2026-10-16. The same habit applies to AI answers: an unsourced number stays unverified, however confident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bullets paraphrase Kim and Yegge's delegation rules (Ch. 4) for a research lab. Willison's test is the exit criterion of the loop: do not commit code you could not explain to someone else.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template aloud. Remind students of sponsor and export-control rules for project data. Run unknown code in a throw-away environment. "The AI wrote it" is not an engineering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bonus week is outside the 16-week grading plan; A1 to A6 are unchanged. Students without an AI tool get a supplied answer to review. Expected numbers are in assignments/practice_vibe_coding/README.md.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opener: fly A, and only because it passed table values, three properties and a differential test; you can show the evidence. Without the evidence you could not have told A from 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1945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77295" cy="1005840"/>
          </a:xfrm>
          <a:prstGeom prst="rect">
            <a:avLst/>
          </a:prstGeom>
          <a:noFill/>
        </p:spPr>
        <p:txBody>
          <a:bodyPr wrap="square">
            <a:spAutoFit/>
          </a:bodyPr>
          <a:lstStyle/>
          <a:p>
            <a:pPr algn="l">
              <a:spcAft>
                <a:spcPts val="1000"/>
              </a:spcAft>
            </a:pPr>
            <a:r>
              <a:rPr sz="4000" b="1" i="0" lang="en-US">
                <a:solidFill>
                  <a:srgbClr val="FFFFFF"/>
                </a:solidFill>
                <a:latin typeface="Calibri"/>
                <a:cs typeface="Calibri"/>
                <a:ea typeface="Calibri"/>
              </a:rPr>
              <a:t>Bonus Week: Vibe Coding in Engineering</a:t>
            </a:r>
          </a:p>
        </p:txBody>
      </p:sp>
      <p:sp>
        <p:nvSpPr>
          <p:cNvPr id="4" name="TextBox 3"/>
          <p:cNvSpPr txBox="1"/>
          <p:nvPr/>
        </p:nvSpPr>
        <p:spPr>
          <a:xfrm>
            <a:off x="457200" y="3200400"/>
            <a:ext cx="11277295" cy="731520"/>
          </a:xfrm>
          <a:prstGeom prst="rect">
            <a:avLst/>
          </a:prstGeom>
          <a:noFill/>
        </p:spPr>
        <p:txBody>
          <a:bodyPr wrap="square">
            <a:spAutoFit/>
          </a:bodyPr>
          <a:lstStyle/>
          <a:p>
            <a:pPr algn="l">
              <a:spcAft>
                <a:spcPts val="1000"/>
              </a:spcAft>
            </a:pPr>
            <a:r>
              <a:rPr sz="2400" b="0" i="0" lang="en-US">
                <a:solidFill>
                  <a:srgbClr val="FFFFFF"/>
                </a:solidFill>
                <a:latin typeface="Calibri"/>
                <a:cs typeface="Calibri"/>
                <a:ea typeface="Calibri"/>
              </a:rPr>
              <a:t>AI writes the code, the engineer verifies it: checks, tests, review, limits</a:t>
            </a:r>
          </a:p>
        </p:txBody>
      </p:sp>
      <p:sp>
        <p:nvSpPr>
          <p:cNvPr id="5" name="TextBox 4"/>
          <p:cNvSpPr txBox="1"/>
          <p:nvPr/>
        </p:nvSpPr>
        <p:spPr>
          <a:xfrm>
            <a:off x="457200" y="4572000"/>
            <a:ext cx="11277295" cy="548640"/>
          </a:xfrm>
          <a:prstGeom prst="rect">
            <a:avLst/>
          </a:prstGeom>
          <a:noFill/>
        </p:spPr>
        <p:txBody>
          <a:bodyPr wrap="square">
            <a:spAutoFit/>
          </a:bodyPr>
          <a:lstStyle/>
          <a:p>
            <a:pPr algn="l">
              <a:spcAft>
                <a:spcPts val="1000"/>
              </a:spcAft>
            </a:pPr>
            <a:r>
              <a:rPr sz="2000" b="0" i="0" lang="en-US">
                <a:solidFill>
                  <a:srgbClr val="1F3A5F"/>
                </a:solidFill>
                <a:latin typeface="Calibri"/>
                <a:cs typeface="Calibri"/>
                <a:ea typeface="Calibri"/>
              </a:rPr>
              <a:t>AI for Aerospace &amp; Mechanical Engineering (PhD)</a:t>
            </a:r>
          </a:p>
        </p:txBody>
      </p:sp>
      <p:sp>
        <p:nvSpPr>
          <p:cNvPr id="6" name="TextBox 5"/>
          <p:cNvSpPr txBox="1"/>
          <p:nvPr/>
        </p:nvSpPr>
        <p:spPr>
          <a:xfrm>
            <a:off x="457200" y="5669280"/>
            <a:ext cx="11277295" cy="822960"/>
          </a:xfrm>
          <a:prstGeom prst="rect">
            <a:avLst/>
          </a:prstGeom>
          <a:noFill/>
        </p:spPr>
        <p:txBody>
          <a:bodyPr wrap="square">
            <a:spAutoFit/>
          </a:bodyPr>
          <a:lstStyle/>
          <a:p>
            <a:pPr algn="l">
              <a:spcAft>
                <a:spcPts val="1000"/>
              </a:spcAft>
            </a:pPr>
            <a:r>
              <a:rPr sz="1100" b="0" i="1" lang="en-US">
                <a:solidFill>
                  <a:srgbClr val="595959"/>
                </a:solidFill>
                <a:latin typeface="Calibri"/>
                <a:cs typeface="Calibri"/>
                <a:ea typeface="Calibri"/>
              </a:rPr>
              <a:t>New content (bonus week). Definitions and cautionary tales paraphrased from G. Kim and S. Yegge, Vibe Coding (IT Revolution, 2025), Chs. 1, 4 and 7; Karpathy's coinage and the review rule from S. Willison, 'Not all AI-assisted programming is vibe coding' (simonwillison.net, 19 Mar 2025); safety and honest-limits angle cross-checked with N. AlNasser, The Vibe Coder's Handbook (2026), Chs. 14 and 17, whose unsourced statistics are not used. Code verification and the observed order after Veluri, Roy and Luke, Computers &amp; Fluids (2012); mutation testing after DeMillo, Lipton and Sayward, IEEE Computer 11(4) (1978); package hallucination from Spracklen et al., USENIX Security 2025; productivity results from Peng et al. (arXiv:2302.06590), METR (arXiv:2507.09089 and blog 24 Feb 2026) and the DORA 2024 report (Google Cloud blog); security results from Pearce et al. (arXiv:2108.09293), Perry et al. (ACM CCS 2023) and the Veracode press release of 30 Jul 2025; Mars Climate Orbiter from the NASA Mishap Investigation Board Phase I report (10 Nov 1999); rules 5 and 10 from G. J. Holzmann, 'The Power of 10' (NASA/JPL); ISA values from ISO 2533:1975. Every number was computed in the course environment or read in the cited source on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An altimeter written in five minutes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Project M3 needs pressure altitude from the UAV barometer</a:t>
            </a:r>
          </a:p>
          <a:p>
            <a:pPr algn="l">
              <a:spcAft>
                <a:spcPts val="1000"/>
              </a:spcAft>
            </a:pPr>
            <a:r>
              <a:rPr sz="2000" b="0" i="0" lang="en-US">
                <a:solidFill>
                  <a:srgbClr val="262626"/>
                </a:solidFill>
                <a:latin typeface="Calibri"/>
                <a:cs typeface="Calibri"/>
                <a:ea typeface="Calibri"/>
              </a:rPr>
              <a:t>• One prompt to an AI assistant: "write pressure_altitude(p), ISA"</a:t>
            </a:r>
          </a:p>
          <a:p>
            <a:pPr algn="l">
              <a:spcAft>
                <a:spcPts val="1000"/>
              </a:spcAft>
            </a:pPr>
            <a:r>
              <a:rPr sz="2000" b="0" i="0" lang="en-US">
                <a:solidFill>
                  <a:srgbClr val="262626"/>
                </a:solidFill>
                <a:latin typeface="Calibri"/>
                <a:cs typeface="Calibri"/>
                <a:ea typeface="Calibri"/>
              </a:rPr>
              <a:t>• Four answers: all run, all have docstrings, all return a number</a:t>
            </a:r>
          </a:p>
          <a:p>
            <a:pPr algn="l">
              <a:spcAft>
                <a:spcPts val="1000"/>
              </a:spcAft>
            </a:pPr>
            <a:r>
              <a:rPr sz="2000" b="0" i="0" lang="en-US">
                <a:solidFill>
                  <a:srgbClr val="262626"/>
                </a:solidFill>
                <a:latin typeface="Calibri"/>
                <a:cs typeface="Calibri"/>
                <a:ea typeface="Calibri"/>
              </a:rPr>
              <a:t>• At 50 kPa they give 5574 m, 172 m, −159 889 and 5574 m</a:t>
            </a:r>
          </a:p>
          <a:p>
            <a:pPr algn="l">
              <a:spcAft>
                <a:spcPts val="1000"/>
              </a:spcAft>
            </a:pPr>
            <a:r>
              <a:rPr sz="2000" b="0" i="0" lang="en-US">
                <a:solidFill>
                  <a:srgbClr val="262626"/>
                </a:solidFill>
                <a:latin typeface="Calibri"/>
                <a:cs typeface="Calibri"/>
                <a:ea typeface="Calibri"/>
              </a:rPr>
              <a:t>• Q: which one would you fly, and how would you prove it?</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Four code cards side by side (candidates A to D from the lab, Section 1), each with a green "runs" badge and its output at 50 kPa underneath.</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What "vibe coding" means, and what this week is about</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Karpathy (Feb 2025): give in to the vibes, "forget that the code even exists"</a:t>
            </a:r>
          </a:p>
          <a:p>
            <a:pPr algn="l">
              <a:spcAft>
                <a:spcPts val="1000"/>
              </a:spcAft>
            </a:pPr>
            <a:r>
              <a:rPr sz="2000" b="0" i="0" lang="en-US">
                <a:solidFill>
                  <a:srgbClr val="262626"/>
                </a:solidFill>
                <a:latin typeface="Calibri"/>
                <a:cs typeface="Calibri"/>
                <a:ea typeface="Calibri"/>
              </a:rPr>
              <a:t>• He called it fine for "throwaway weekend projects"</a:t>
            </a:r>
          </a:p>
          <a:p>
            <a:pPr algn="l">
              <a:spcAft>
                <a:spcPts val="1000"/>
              </a:spcAft>
            </a:pPr>
            <a:r>
              <a:rPr sz="2000" b="0" i="0" lang="en-US">
                <a:solidFill>
                  <a:srgbClr val="262626"/>
                </a:solidFill>
                <a:latin typeface="Calibri"/>
                <a:cs typeface="Calibri"/>
                <a:ea typeface="Calibri"/>
              </a:rPr>
              <a:t>• Willison: if you review, test and can explain it, it is not vibe coding</a:t>
            </a:r>
          </a:p>
          <a:p>
            <a:pPr algn="l">
              <a:spcAft>
                <a:spcPts val="1000"/>
              </a:spcAft>
            </a:pPr>
            <a:r>
              <a:rPr sz="2000" b="0" i="0" lang="en-US">
                <a:solidFill>
                  <a:srgbClr val="262626"/>
                </a:solidFill>
                <a:latin typeface="Calibri"/>
                <a:cs typeface="Calibri"/>
                <a:ea typeface="Calibri"/>
              </a:rPr>
              <a:t>• Kim and Yegge: you are the head chef; you delegate cooking, not responsibility</a:t>
            </a:r>
          </a:p>
          <a:p>
            <a:pPr algn="l">
              <a:spcAft>
                <a:spcPts val="1000"/>
              </a:spcAft>
            </a:pPr>
            <a:r>
              <a:rPr sz="2000" b="0" i="0" lang="en-US">
                <a:solidFill>
                  <a:srgbClr val="262626"/>
                </a:solidFill>
                <a:latin typeface="Calibri"/>
                <a:cs typeface="Calibri"/>
                <a:ea typeface="Calibri"/>
              </a:rPr>
              <a:t>• This week: AI writes, the engineer verifies</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 horizontal spectrum from "accept without reading" (left) to "specify, review, test, explain" (right), with a flight-software badge on the far right and "weekend prototype" on the far left.</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1: the right answer, by hand</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ISA troposphere: h = (T0/L) [1 − (p/p0)^(R L/g0)]</a:t>
            </a:r>
          </a:p>
          <a:p>
            <a:pPr algn="l">
              <a:spcAft>
                <a:spcPts val="1000"/>
              </a:spcAft>
            </a:pPr>
            <a:r>
              <a:rPr sz="2000" b="0" i="0" lang="en-US">
                <a:solidFill>
                  <a:srgbClr val="262626"/>
                </a:solidFill>
                <a:latin typeface="Calibri"/>
                <a:cs typeface="Calibri"/>
                <a:ea typeface="Calibri"/>
              </a:rPr>
              <a:t>• Exponent 287.05 × 0.0065 / 9.80665 = 0.19026</a:t>
            </a:r>
          </a:p>
          <a:p>
            <a:pPr algn="l">
              <a:spcAft>
                <a:spcPts val="1000"/>
              </a:spcAft>
            </a:pPr>
            <a:r>
              <a:rPr sz="2000" b="0" i="0" lang="en-US">
                <a:solidFill>
                  <a:srgbClr val="262626"/>
                </a:solidFill>
                <a:latin typeface="Calibri"/>
                <a:cs typeface="Calibri"/>
                <a:ea typeface="Calibri"/>
              </a:rPr>
              <a:t>• (50 000/101 325)^0.19026 = 0.87425; T0/L = 44 331 m</a:t>
            </a:r>
          </a:p>
          <a:p>
            <a:pPr algn="l">
              <a:spcAft>
                <a:spcPts val="1000"/>
              </a:spcAft>
            </a:pPr>
            <a:r>
              <a:rPr sz="2000" b="0" i="0" lang="en-US">
                <a:solidFill>
                  <a:srgbClr val="262626"/>
                </a:solidFill>
                <a:latin typeface="Calibri"/>
                <a:cs typeface="Calibri"/>
                <a:ea typeface="Calibri"/>
              </a:rPr>
              <a:t>• h = 44 331 × (1 − 0.87425) ≈ 5575 m (5574.4 m exact)</a:t>
            </a:r>
          </a:p>
          <a:p>
            <a:pPr algn="l">
              <a:spcAft>
                <a:spcPts val="1000"/>
              </a:spcAft>
            </a:pPr>
            <a:r>
              <a:rPr sz="2000" b="0" i="0" lang="en-US">
                <a:solidFill>
                  <a:srgbClr val="262626"/>
                </a:solidFill>
                <a:latin typeface="Calibri"/>
                <a:cs typeface="Calibri"/>
                <a:ea typeface="Calibri"/>
              </a:rPr>
              <a:t>• B used R = 8.314 J/(mol K): exponent 0.005511, h ≈ 172 m</a:t>
            </a:r>
          </a:p>
        </p:txBody>
      </p:sp>
      <p:pic>
        <p:nvPicPr>
          <p:cNvPr id="5" name="Picture 4" descr="fig_candidates.png"/>
          <p:cNvPicPr>
            <a:picLocks noChangeAspect="1"/>
          </p:cNvPicPr>
          <p:nvPr/>
        </p:nvPicPr>
        <p:blipFill>
          <a:blip r:embed="rId2"/>
          <a:stretch>
            <a:fillRect/>
          </a:stretch>
        </p:blipFill>
        <p:spPr>
          <a:xfrm>
            <a:off x="6583680" y="1371600"/>
            <a:ext cx="5150815" cy="1816504"/>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Plausible code fails in engineering ways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Wrong constant, wrong unit contract, a "safety" clamp that changes physics</a:t>
            </a:r>
          </a:p>
          <a:p>
            <a:pPr algn="l">
              <a:spcAft>
                <a:spcPts val="1000"/>
              </a:spcAft>
            </a:pPr>
            <a:r>
              <a:rPr sz="2000" b="0" i="0" lang="en-US">
                <a:solidFill>
                  <a:srgbClr val="262626"/>
                </a:solidFill>
                <a:latin typeface="Calibri"/>
                <a:cs typeface="Calibri"/>
                <a:ea typeface="Calibri"/>
              </a:rPr>
              <a:t>• Kim and Yegge, Ch. 4: an agent silently deleted 80 % of one test suite</a:t>
            </a:r>
          </a:p>
          <a:p>
            <a:pPr algn="l">
              <a:spcAft>
                <a:spcPts val="1000"/>
              </a:spcAft>
            </a:pPr>
            <a:r>
              <a:rPr sz="2000" b="0" i="0" lang="en-US">
                <a:solidFill>
                  <a:srgbClr val="262626"/>
                </a:solidFill>
                <a:latin typeface="Calibri"/>
                <a:cs typeface="Calibri"/>
                <a:ea typeface="Calibri"/>
              </a:rPr>
              <a:t>• Their other tales: a lost repository, a near-wiped CNC machine, ignored instructions</a:t>
            </a:r>
          </a:p>
          <a:p>
            <a:pPr algn="l">
              <a:spcAft>
                <a:spcPts val="1000"/>
              </a:spcAft>
            </a:pPr>
            <a:r>
              <a:rPr sz="2000" b="0" i="0" lang="en-US">
                <a:solidFill>
                  <a:srgbClr val="262626"/>
                </a:solidFill>
                <a:latin typeface="Calibri"/>
                <a:cs typeface="Calibri"/>
                <a:ea typeface="Calibri"/>
              </a:rPr>
              <a:t>• Mars Climate Orbiter (1999): ground software in lbf·s, navigation expected N·s</a:t>
            </a:r>
          </a:p>
          <a:p>
            <a:pPr algn="l">
              <a:spcAft>
                <a:spcPts val="1000"/>
              </a:spcAft>
            </a:pPr>
            <a:r>
              <a:rPr sz="2000" b="0" i="0" lang="en-US">
                <a:solidFill>
                  <a:srgbClr val="262626"/>
                </a:solidFill>
                <a:latin typeface="Calibri"/>
                <a:cs typeface="Calibri"/>
                <a:ea typeface="Calibri"/>
              </a:rPr>
              <a:t>• None of these crash: the program runs and returns a number</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Four icons in a row (constant, units, clamp, deleted tests), each with one line: "runs, wrong".</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Check 1: reference values you did not compute with the code</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ISA table (ISO 2533:1975): 101 325 Pa at 0 m, 22 632 Pa at 11 000 m</a:t>
            </a:r>
          </a:p>
          <a:p>
            <a:pPr algn="l">
              <a:spcAft>
                <a:spcPts val="1000"/>
              </a:spcAft>
            </a:pPr>
            <a:r>
              <a:rPr sz="2000" b="0" i="0" lang="en-US">
                <a:solidFill>
                  <a:srgbClr val="262626"/>
                </a:solidFill>
                <a:latin typeface="Calibri"/>
                <a:cs typeface="Calibri"/>
                <a:ea typeface="Calibri"/>
              </a:rPr>
              <a:t>• Table rounded to 1 Pa; |dh/dp| ≈ 0.28 m/Pa near 11 km, so ±1 m is fair</a:t>
            </a:r>
          </a:p>
          <a:p>
            <a:pPr algn="l">
              <a:spcAft>
                <a:spcPts val="1000"/>
              </a:spcAft>
            </a:pPr>
            <a:r>
              <a:rPr sz="2000" b="0" i="0" lang="en-US">
                <a:solidFill>
                  <a:srgbClr val="262626"/>
                </a:solidFill>
                <a:latin typeface="Calibri"/>
                <a:cs typeface="Calibri"/>
                <a:ea typeface="Calibri"/>
              </a:rPr>
              <a:t>• Write each case with its source: ReferenceCase(..., source=...)</a:t>
            </a:r>
          </a:p>
          <a:p>
            <a:pPr algn="l">
              <a:spcAft>
                <a:spcPts val="1000"/>
              </a:spcAft>
            </a:pPr>
            <a:r>
              <a:rPr sz="2000" b="0" i="0" lang="en-US">
                <a:solidFill>
                  <a:srgbClr val="262626"/>
                </a:solidFill>
                <a:latin typeface="Calibri"/>
                <a:cs typeface="Calibri"/>
                <a:ea typeface="Calibri"/>
              </a:rPr>
              <a:t>• B and C fail at once; D passes</a:t>
            </a:r>
          </a:p>
          <a:p>
            <a:pPr algn="l">
              <a:spcAft>
                <a:spcPts val="1000"/>
              </a:spcAft>
            </a:pPr>
            <a:r>
              <a:rPr sz="2000" b="0" i="0" lang="en-US">
                <a:solidFill>
                  <a:srgbClr val="262626"/>
                </a:solidFill>
                <a:latin typeface="Calibri"/>
                <a:cs typeface="Calibri"/>
                <a:ea typeface="Calibri"/>
              </a:rPr>
              <a:t>• Two table values are necessary, not sufficient</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 two-row table (sea level, tropopause) with source, expected altitude, tolerance, and a pass/fail column for A to 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2: four candidates, five checks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Properties: monotonic, round trip, negative below sea level</a:t>
            </a:r>
          </a:p>
          <a:p>
            <a:pPr algn="l">
              <a:spcAft>
                <a:spcPts val="1000"/>
              </a:spcAft>
            </a:pPr>
            <a:r>
              <a:rPr sz="2000" b="0" i="0" lang="en-US">
                <a:solidFill>
                  <a:srgbClr val="262626"/>
                </a:solidFill>
                <a:latin typeface="Calibri"/>
                <a:cs typeface="Calibri"/>
                <a:ea typeface="Calibri"/>
              </a:rPr>
              <a:t>• Differential: within 1 m of the Week 2 library over 30 to 110 kPa</a:t>
            </a:r>
          </a:p>
          <a:p>
            <a:pPr algn="l">
              <a:spcAft>
                <a:spcPts val="1000"/>
              </a:spcAft>
            </a:pPr>
            <a:r>
              <a:rPr sz="2000" b="0" i="0" lang="en-US">
                <a:solidFill>
                  <a:srgbClr val="262626"/>
                </a:solidFill>
                <a:latin typeface="Calibri"/>
                <a:cs typeface="Calibri"/>
                <a:ea typeface="Calibri"/>
              </a:rPr>
              <a:t>• A passes all five (rounded constants, max deviation 0.002 m)</a:t>
            </a:r>
          </a:p>
          <a:p>
            <a:pPr algn="l">
              <a:spcAft>
                <a:spcPts val="1000"/>
              </a:spcAft>
            </a:pPr>
            <a:r>
              <a:rPr sz="2000" b="0" i="0" lang="en-US">
                <a:solidFill>
                  <a:srgbClr val="262626"/>
                </a:solidFill>
                <a:latin typeface="Calibri"/>
                <a:cs typeface="Calibri"/>
                <a:ea typeface="Calibri"/>
              </a:rPr>
              <a:t>• D passes the table but fails the other four</a:t>
            </a:r>
          </a:p>
          <a:p>
            <a:pPr algn="l">
              <a:spcAft>
                <a:spcPts val="1000"/>
              </a:spcAft>
            </a:pPr>
            <a:r>
              <a:rPr sz="2000" b="0" i="0" lang="en-US">
                <a:solidFill>
                  <a:srgbClr val="262626"/>
                </a:solidFill>
                <a:latin typeface="Calibri"/>
                <a:cs typeface="Calibri"/>
                <a:ea typeface="Calibri"/>
              </a:rPr>
              <a:t>• A portfolio of checks, not one test, separates them</a:t>
            </a:r>
          </a:p>
        </p:txBody>
      </p:sp>
      <p:pic>
        <p:nvPicPr>
          <p:cNvPr id="5" name="Picture 4" descr="fig_check_matrix.png"/>
          <p:cNvPicPr>
            <a:picLocks noChangeAspect="1"/>
          </p:cNvPicPr>
          <p:nvPr/>
        </p:nvPicPr>
        <p:blipFill>
          <a:blip r:embed="rId2"/>
          <a:stretch>
            <a:fillRect/>
          </a:stretch>
        </p:blipFill>
        <p:spPr>
          <a:xfrm>
            <a:off x="6583680" y="1371600"/>
            <a:ext cx="5150815" cy="2258393"/>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Properties and differential testing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Property: a statement true for every valid input (sampled 200 times)</a:t>
            </a:r>
          </a:p>
          <a:p>
            <a:pPr algn="l">
              <a:spcAft>
                <a:spcPts val="1000"/>
              </a:spcAft>
            </a:pPr>
            <a:r>
              <a:rPr sz="2000" b="0" i="0" lang="en-US">
                <a:solidFill>
                  <a:srgbClr val="262626"/>
                </a:solidFill>
                <a:latin typeface="Calibri"/>
                <a:cs typeface="Calibri"/>
                <a:ea typeface="Calibri"/>
              </a:rPr>
              <a:t>• Monotonic: higher pressure means lower altitude</a:t>
            </a:r>
          </a:p>
          <a:p>
            <a:pPr algn="l">
              <a:spcAft>
                <a:spcPts val="1000"/>
              </a:spcAft>
            </a:pPr>
            <a:r>
              <a:rPr sz="2000" b="0" i="0" lang="en-US">
                <a:solidFill>
                  <a:srgbClr val="262626"/>
                </a:solidFill>
                <a:latin typeface="Calibri"/>
                <a:cs typeface="Calibri"/>
                <a:ea typeface="Calibri"/>
              </a:rPr>
              <a:t>• Round trip: altitude_to_pressure(pressure_altitude(p)) = p</a:t>
            </a:r>
          </a:p>
          <a:p>
            <a:pPr algn="l">
              <a:spcAft>
                <a:spcPts val="1000"/>
              </a:spcAft>
            </a:pPr>
            <a:r>
              <a:rPr sz="2000" b="0" i="0" lang="en-US">
                <a:solidFill>
                  <a:srgbClr val="262626"/>
                </a:solidFill>
                <a:latin typeface="Calibri"/>
                <a:cs typeface="Calibri"/>
                <a:ea typeface="Calibri"/>
              </a:rPr>
              <a:t>• Differential: compare with an independent, trusted implementation</a:t>
            </a:r>
          </a:p>
          <a:p>
            <a:pPr algn="l">
              <a:spcAft>
                <a:spcPts val="1000"/>
              </a:spcAft>
            </a:pPr>
            <a:r>
              <a:rPr sz="2000" b="0" i="0" lang="en-US">
                <a:solidFill>
                  <a:srgbClr val="262626"/>
                </a:solidFill>
                <a:latin typeface="Calibri"/>
                <a:cs typeface="Calibri"/>
                <a:ea typeface="Calibri"/>
              </a:rPr>
              <a:t>• Seeded random samples: a failure can be reproduced exactly</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Left: a scatter of random pressures with a monotone curve through them; right: two curves (new, trusted) and their difference with a ±1 m band.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Unit contracts: candidate C is not wrong, it is foreign</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C takes hPa and returns feet (145 366.45 ft scale, 1013.25 hPa)</a:t>
            </a:r>
          </a:p>
          <a:p>
            <a:pPr algn="l">
              <a:spcAft>
                <a:spcPts val="1000"/>
              </a:spcAft>
            </a:pPr>
            <a:r>
              <a:rPr sz="2000" b="0" i="0" lang="en-US">
                <a:solidFill>
                  <a:srgbClr val="262626"/>
                </a:solidFill>
                <a:latin typeface="Calibri"/>
                <a:cs typeface="Calibri"/>
                <a:ea typeface="Calibri"/>
              </a:rPr>
              <a:t>• Fed Pa, it gives −159 889: nonsense, but no error</a:t>
            </a:r>
          </a:p>
          <a:p>
            <a:pPr algn="l">
              <a:spcAft>
                <a:spcPts val="1000"/>
              </a:spcAft>
            </a:pPr>
            <a:r>
              <a:rPr sz="2000" b="0" i="0" lang="en-US">
                <a:solidFill>
                  <a:srgbClr val="262626"/>
                </a:solidFill>
                <a:latin typeface="Calibri"/>
                <a:cs typeface="Calibri"/>
                <a:ea typeface="Calibri"/>
              </a:rPr>
              <a:t>• With an adapter (Pa → hPa, ft → m) it is within 3.88 m of the library</a:t>
            </a:r>
          </a:p>
          <a:p>
            <a:pPr algn="l">
              <a:spcAft>
                <a:spcPts val="1000"/>
              </a:spcAft>
            </a:pPr>
            <a:r>
              <a:rPr sz="2000" b="0" i="0" lang="en-US">
                <a:solidFill>
                  <a:srgbClr val="262626"/>
                </a:solidFill>
                <a:latin typeface="Calibri"/>
                <a:cs typeface="Calibri"/>
                <a:ea typeface="Calibri"/>
              </a:rPr>
              <a:t>• The defect is the missing contract, not the formula</a:t>
            </a:r>
          </a:p>
          <a:p>
            <a:pPr algn="l">
              <a:spcAft>
                <a:spcPts val="1000"/>
              </a:spcAft>
            </a:pPr>
            <a:r>
              <a:rPr sz="2000" b="0" i="0" lang="en-US">
                <a:solidFill>
                  <a:srgbClr val="262626"/>
                </a:solidFill>
                <a:latin typeface="Calibri"/>
                <a:cs typeface="Calibri"/>
                <a:ea typeface="Calibri"/>
              </a:rPr>
              <a:t>• Write units into names, docstrings and tests: p_pa, altitude_m</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 block diagram: Pa → [÷100] → C → [× 0.3048] → m, with the comparison against pressure_to_altitude.</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3: an RK4 that passes the usual test</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By hand: one RK4 step of dx/dt = −x, h = 0.1 gives 0.9048375</a:t>
            </a:r>
          </a:p>
          <a:p>
            <a:pPr algn="l">
              <a:spcAft>
                <a:spcPts val="1000"/>
              </a:spcAft>
            </a:pPr>
            <a:r>
              <a:rPr sz="2000" b="0" i="0" lang="en-US">
                <a:solidFill>
                  <a:srgbClr val="262626"/>
                </a:solidFill>
                <a:latin typeface="Calibri"/>
                <a:cs typeface="Calibri"/>
                <a:ea typeface="Calibri"/>
              </a:rPr>
              <a:t>• Exact e^−0.1 = 0.904837418; error 8.2 × 10⁻⁸</a:t>
            </a:r>
          </a:p>
          <a:p>
            <a:pPr algn="l">
              <a:spcAft>
                <a:spcPts val="1000"/>
              </a:spcAft>
            </a:pPr>
            <a:r>
              <a:rPr sz="2000" b="0" i="0" lang="en-US">
                <a:solidFill>
                  <a:srgbClr val="262626"/>
                </a:solidFill>
                <a:latin typeface="Calibri"/>
                <a:cs typeface="Calibri"/>
                <a:ea typeface="Calibri"/>
              </a:rPr>
              <a:t>• Pitch oscillator: ωn = 3 rad/s, ζ = 0.5, θ0 = 0.1 rad, T = 2 s</a:t>
            </a:r>
          </a:p>
          <a:p>
            <a:pPr algn="l">
              <a:spcAft>
                <a:spcPts val="1000"/>
              </a:spcAft>
            </a:pPr>
            <a:r>
              <a:rPr sz="2000" b="0" i="0" lang="en-US">
                <a:solidFill>
                  <a:srgbClr val="262626"/>
                </a:solidFill>
                <a:latin typeface="Calibri"/>
                <a:cs typeface="Calibri"/>
                <a:ea typeface="Calibri"/>
              </a:rPr>
              <a:t>• Typo: k3 computed from k1 instead of k2</a:t>
            </a:r>
          </a:p>
          <a:p>
            <a:pPr algn="l">
              <a:spcAft>
                <a:spcPts val="1000"/>
              </a:spcAft>
            </a:pPr>
            <a:r>
              <a:rPr sz="2000" b="0" i="0" lang="en-US">
                <a:solidFill>
                  <a:srgbClr val="262626"/>
                </a:solidFill>
                <a:latin typeface="Calibri"/>
                <a:cs typeface="Calibri"/>
                <a:ea typeface="Calibri"/>
              </a:rPr>
              <a:t>• At h = 0.05 both versions pass a 10⁻⁵ tolerance test</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Two code listings side by side, identical except one highlighted character (k1 vs k2) in the k3 line, each with a green "PASS (error &lt; 1e-5)" stamp.</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Code verification: does the error fall at the promised rate?</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Observed order p̂ = ln(e1/e2) / ln(h1/h2) (Veluri, Roy and Luke, 2012)</a:t>
            </a:r>
          </a:p>
          <a:p>
            <a:pPr algn="l">
              <a:spcAft>
                <a:spcPts val="1000"/>
              </a:spcAft>
            </a:pPr>
            <a:r>
              <a:rPr sz="2000" b="0" i="0" lang="en-US">
                <a:solidFill>
                  <a:srgbClr val="262626"/>
                </a:solidFill>
                <a:latin typeface="Calibri"/>
                <a:cs typeface="Calibri"/>
                <a:ea typeface="Calibri"/>
              </a:rPr>
              <a:t>• Halving h must divide the RK4 error by 2⁴ = 16</a:t>
            </a:r>
          </a:p>
          <a:p>
            <a:pPr algn="l">
              <a:spcAft>
                <a:spcPts val="1000"/>
              </a:spcAft>
            </a:pPr>
            <a:r>
              <a:rPr sz="2000" b="0" i="0" lang="en-US">
                <a:solidFill>
                  <a:srgbClr val="262626"/>
                </a:solidFill>
                <a:latin typeface="Calibri"/>
                <a:cs typeface="Calibri"/>
                <a:ea typeface="Calibri"/>
              </a:rPr>
              <a:t>• RK4: 3.95, 3.99, 4.00; Euler: 1.38, 1.18, 1.09</a:t>
            </a:r>
          </a:p>
          <a:p>
            <a:pPr algn="l">
              <a:spcAft>
                <a:spcPts val="1000"/>
              </a:spcAft>
            </a:pPr>
            <a:r>
              <a:rPr sz="2000" b="0" i="0" lang="en-US">
                <a:solidFill>
                  <a:srgbClr val="262626"/>
                </a:solidFill>
                <a:latin typeface="Calibri"/>
                <a:cs typeface="Calibri"/>
                <a:ea typeface="Calibri"/>
              </a:rPr>
              <a:t>• Typo version: 2.69, 2.55, 2.38: the defect is visible at once</a:t>
            </a:r>
          </a:p>
          <a:p>
            <a:pPr algn="l">
              <a:spcAft>
                <a:spcPts val="1000"/>
              </a:spcAft>
            </a:pPr>
            <a:r>
              <a:rPr sz="2000" b="0" i="0" lang="en-US">
                <a:solidFill>
                  <a:srgbClr val="262626"/>
                </a:solidFill>
                <a:latin typeface="Calibri"/>
                <a:cs typeface="Calibri"/>
                <a:ea typeface="Calibri"/>
              </a:rPr>
              <a:t>• Needs an exact or manufactured solution</a:t>
            </a:r>
          </a:p>
        </p:txBody>
      </p:sp>
      <p:pic>
        <p:nvPicPr>
          <p:cNvPr id="5" name="Picture 4" descr="fig_convergence.png"/>
          <p:cNvPicPr>
            <a:picLocks noChangeAspect="1"/>
          </p:cNvPicPr>
          <p:nvPr/>
        </p:nvPicPr>
        <p:blipFill>
          <a:blip r:embed="rId2"/>
          <a:stretch>
            <a:fillRect/>
          </a:stretch>
        </p:blipFill>
        <p:spPr>
          <a:xfrm>
            <a:off x="6583680" y="1371600"/>
            <a:ext cx="5150815" cy="3652721"/>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Are the tests any good? Mutation testing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Passing tests prove nothing if they also pass on wrong code</a:t>
            </a:r>
          </a:p>
          <a:p>
            <a:pPr algn="l">
              <a:spcAft>
                <a:spcPts val="1000"/>
              </a:spcAft>
            </a:pPr>
            <a:r>
              <a:rPr sz="2000" b="0" i="0" lang="en-US">
                <a:solidFill>
                  <a:srgbClr val="262626"/>
                </a:solidFill>
                <a:latin typeface="Calibri"/>
                <a:cs typeface="Calibri"/>
                <a:ea typeface="Calibri"/>
              </a:rPr>
              <a:t>• Mutation testing (DeMillo, Lipton, Sayward, 1978): seed known bugs</a:t>
            </a:r>
          </a:p>
          <a:p>
            <a:pPr algn="l">
              <a:spcAft>
                <a:spcPts val="1000"/>
              </a:spcAft>
            </a:pPr>
            <a:r>
              <a:rPr sz="2000" b="0" i="0" lang="en-US">
                <a:solidFill>
                  <a:srgbClr val="262626"/>
                </a:solidFill>
                <a:latin typeface="Calibri"/>
                <a:cs typeface="Calibri"/>
                <a:ea typeface="Calibri"/>
              </a:rPr>
              <a:t>• A test suite "kills" a mutant when at least one test fails</a:t>
            </a:r>
          </a:p>
          <a:p>
            <a:pPr algn="l">
              <a:spcAft>
                <a:spcPts val="1000"/>
              </a:spcAft>
            </a:pPr>
            <a:r>
              <a:rPr sz="2000" b="0" i="0" lang="en-US">
                <a:solidFill>
                  <a:srgbClr val="262626"/>
                </a:solidFill>
                <a:latin typeface="Calibri"/>
                <a:cs typeface="Calibri"/>
                <a:ea typeface="Calibri"/>
              </a:rPr>
              <a:t>• Mutation score = killed / total</a:t>
            </a:r>
          </a:p>
          <a:p>
            <a:pPr algn="l">
              <a:spcAft>
                <a:spcPts val="1000"/>
              </a:spcAft>
            </a:pPr>
            <a:r>
              <a:rPr sz="2000" b="0" i="0" lang="en-US">
                <a:solidFill>
                  <a:srgbClr val="262626"/>
                </a:solidFill>
                <a:latin typeface="Calibri"/>
                <a:cs typeface="Calibri"/>
                <a:ea typeface="Calibri"/>
              </a:rPr>
              <a:t>• Track it: a silent test deletion becomes a visible drop</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 trusted function in the centre with six arrows to mutated copies (universal R, hPa reference, clamp, inverted exponent, sign, scalars only), each marked killed or survived.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4: four suites, same green CI</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Weak (runs, 0 m at sea level): 1 of 6 mutants killed</a:t>
            </a:r>
          </a:p>
          <a:p>
            <a:pPr algn="l">
              <a:spcAft>
                <a:spcPts val="1000"/>
              </a:spcAft>
            </a:pPr>
            <a:r>
              <a:rPr sz="2000" b="0" i="0" lang="en-US">
                <a:solidFill>
                  <a:srgbClr val="262626"/>
                </a:solidFill>
                <a:latin typeface="Calibri"/>
                <a:cs typeface="Calibri"/>
                <a:ea typeface="Calibri"/>
              </a:rPr>
              <a:t>• Typical (+ one hand-computed value): 4 of 6</a:t>
            </a:r>
          </a:p>
          <a:p>
            <a:pPr algn="l">
              <a:spcAft>
                <a:spcPts val="1000"/>
              </a:spcAft>
            </a:pPr>
            <a:r>
              <a:rPr sz="2000" b="0" i="0" lang="en-US">
                <a:solidFill>
                  <a:srgbClr val="262626"/>
                </a:solidFill>
                <a:latin typeface="Calibri"/>
                <a:cs typeface="Calibri"/>
                <a:ea typeface="Calibri"/>
              </a:rPr>
              <a:t>• Strong (+ table, below sea level, array, monotonic): 6 of 6</a:t>
            </a:r>
          </a:p>
          <a:p>
            <a:pPr algn="l">
              <a:spcAft>
                <a:spcPts val="1000"/>
              </a:spcAft>
            </a:pPr>
            <a:r>
              <a:rPr sz="2000" b="0" i="0" lang="en-US">
                <a:solidFill>
                  <a:srgbClr val="262626"/>
                </a:solidFill>
                <a:latin typeface="Calibri"/>
                <a:cs typeface="Calibri"/>
                <a:ea typeface="Calibri"/>
              </a:rPr>
              <a:t>• Strong minus the assertions D fails: back to 4 of 6</a:t>
            </a:r>
          </a:p>
          <a:p>
            <a:pPr algn="l">
              <a:spcAft>
                <a:spcPts val="1000"/>
              </a:spcAft>
            </a:pPr>
            <a:r>
              <a:rPr sz="2000" b="0" i="0" lang="en-US">
                <a:solidFill>
                  <a:srgbClr val="262626"/>
                </a:solidFill>
                <a:latin typeface="Calibri"/>
                <a:cs typeface="Calibri"/>
                <a:ea typeface="Calibri"/>
              </a:rPr>
              <a:t>• Survivors: the sea-level clamp and the scalars-only version</a:t>
            </a:r>
          </a:p>
        </p:txBody>
      </p:sp>
      <p:pic>
        <p:nvPicPr>
          <p:cNvPr id="5" name="Picture 4" descr="fig_mutation.png"/>
          <p:cNvPicPr>
            <a:picLocks noChangeAspect="1"/>
          </p:cNvPicPr>
          <p:nvPr/>
        </p:nvPicPr>
        <p:blipFill>
          <a:blip r:embed="rId2"/>
          <a:stretch>
            <a:fillRect/>
          </a:stretch>
        </p:blipFill>
        <p:spPr>
          <a:xfrm>
            <a:off x="6583680" y="1371600"/>
            <a:ext cx="5150815" cy="2769426"/>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Look before you run: static checks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Count what you asked for: missing or unrequested functions</a:t>
            </a:r>
          </a:p>
          <a:p>
            <a:pPr algn="l">
              <a:spcAft>
                <a:spcPts val="1000"/>
              </a:spcAft>
            </a:pPr>
            <a:r>
              <a:rPr sz="2000" b="0" i="0" lang="en-US">
                <a:solidFill>
                  <a:srgbClr val="262626"/>
                </a:solidFill>
                <a:latin typeface="Calibri"/>
                <a:cs typeface="Calibri"/>
                <a:ea typeface="Calibri"/>
              </a:rPr>
              <a:t>• Imports that do not resolve may be hallucinated packages</a:t>
            </a:r>
          </a:p>
          <a:p>
            <a:pPr algn="l">
              <a:spcAft>
                <a:spcPts val="1000"/>
              </a:spcAft>
            </a:pPr>
            <a:r>
              <a:rPr sz="2000" b="0" i="0" lang="en-US">
                <a:solidFill>
                  <a:srgbClr val="262626"/>
                </a:solidFill>
                <a:latin typeface="Calibri"/>
                <a:cs typeface="Calibri"/>
                <a:ea typeface="Calibri"/>
              </a:rPr>
              <a:t>• Spracklen et al. (USENIX Sec. 2025): 576 000 samples, 16 models</a:t>
            </a:r>
          </a:p>
          <a:p>
            <a:pPr algn="l">
              <a:spcAft>
                <a:spcPts val="1000"/>
              </a:spcAft>
            </a:pPr>
            <a:r>
              <a:rPr sz="2000" b="0" i="0" lang="en-US">
                <a:solidFill>
                  <a:srgbClr val="262626"/>
                </a:solidFill>
                <a:latin typeface="Calibri"/>
                <a:cs typeface="Calibri"/>
                <a:ea typeface="Calibri"/>
              </a:rPr>
              <a:t>• Non-existent packages: ≥ 5.2 % (commercial), 21.7 % (open-source)</a:t>
            </a:r>
          </a:p>
          <a:p>
            <a:pPr algn="l">
              <a:spcAft>
                <a:spcPts val="1000"/>
              </a:spcAft>
            </a:pPr>
            <a:r>
              <a:rPr sz="2000" b="0" i="0" lang="en-US">
                <a:solidFill>
                  <a:srgbClr val="262626"/>
                </a:solidFill>
                <a:latin typeface="Calibri"/>
                <a:cs typeface="Calibri"/>
                <a:ea typeface="Calibri"/>
              </a:rPr>
              <a:t>• An attacker can publish malware under an invented name</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An AI answer with the missing altitude_to_pressure greyed out and "import hallucinated_isa_toolkit" underlined in red.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Pinned environments and old engineering rules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NumPy 1.26 (course env): np.trapz exists, np.trapezoid does not</a:t>
            </a:r>
          </a:p>
          <a:p>
            <a:pPr algn="l">
              <a:spcAft>
                <a:spcPts val="1000"/>
              </a:spcAft>
            </a:pPr>
            <a:r>
              <a:rPr sz="2000" b="0" i="0" lang="en-US">
                <a:solidFill>
                  <a:srgbClr val="262626"/>
                </a:solidFill>
                <a:latin typeface="Calibri"/>
                <a:cs typeface="Calibri"/>
                <a:ea typeface="Calibri"/>
              </a:rPr>
              <a:t>• NumPy 2.x: the reverse; assistants mix both</a:t>
            </a:r>
          </a:p>
          <a:p>
            <a:pPr algn="l">
              <a:spcAft>
                <a:spcPts val="1000"/>
              </a:spcAft>
            </a:pPr>
            <a:r>
              <a:rPr sz="2000" b="0" i="0" lang="en-US">
                <a:solidFill>
                  <a:srgbClr val="262626"/>
                </a:solidFill>
                <a:latin typeface="Calibri"/>
                <a:cs typeface="Calibri"/>
                <a:ea typeface="Calibri"/>
              </a:rPr>
              <a:t>• Pin versions and run tests in the pinned environment</a:t>
            </a:r>
          </a:p>
          <a:p>
            <a:pPr algn="l">
              <a:spcAft>
                <a:spcPts val="1000"/>
              </a:spcAft>
            </a:pPr>
            <a:r>
              <a:rPr sz="2000" b="0" i="0" lang="en-US">
                <a:solidFill>
                  <a:srgbClr val="262626"/>
                </a:solidFill>
                <a:latin typeface="Calibri"/>
                <a:cs typeface="Calibri"/>
                <a:ea typeface="Calibri"/>
              </a:rPr>
              <a:t>• Holzmann, Power of 10 (rule 5): at least two assertions per function</a:t>
            </a:r>
          </a:p>
          <a:p>
            <a:pPr algn="l">
              <a:spcAft>
                <a:spcPts val="1000"/>
              </a:spcAft>
            </a:pPr>
            <a:r>
              <a:rPr sz="2000" b="0" i="0" lang="en-US">
                <a:solidFill>
                  <a:srgbClr val="262626"/>
                </a:solidFill>
                <a:latin typeface="Calibri"/>
                <a:cs typeface="Calibri"/>
                <a:ea typeface="Calibri"/>
              </a:rPr>
              <a:t>• Rule 10: zero compiler warnings, static analysis every day</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Two terminal boxes: "NumPy 1.26.4 → trapz ✓ trapezoid ✗" and "NumPy 2.x → trapz ✗ trapezoid ✓".</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5: a static-fire log (practice assignment)</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498 samples, jittered 200 Hz, three dropped packets, load-cell noise</a:t>
            </a:r>
          </a:p>
          <a:p>
            <a:pPr algn="l">
              <a:spcAft>
                <a:spcPts val="1000"/>
              </a:spcAft>
            </a:pPr>
            <a:r>
              <a:rPr sz="2000" b="0" i="0" lang="en-US">
                <a:solidFill>
                  <a:srgbClr val="262626"/>
                </a:solidFill>
                <a:latin typeface="Calibri"/>
                <a:cs typeface="Calibri"/>
                <a:ea typeface="Calibri"/>
              </a:rPr>
              <a:t>• Correct: clip negatives, trapezoid on actual times: I = 122.30 N·s</a:t>
            </a:r>
          </a:p>
          <a:p>
            <a:pPr algn="l">
              <a:spcAft>
                <a:spcPts val="1000"/>
              </a:spcAft>
            </a:pPr>
            <a:r>
              <a:rPr sz="2000" b="0" i="0" lang="en-US">
                <a:solidFill>
                  <a:srgbClr val="262626"/>
                </a:solidFill>
                <a:latin typeface="Calibri"/>
                <a:cs typeface="Calibri"/>
                <a:ea typeface="Calibri"/>
              </a:rPr>
              <a:t>• "dt = t[1] − t[0]" (even spacing assumed): 97.85 N·s, 20 % low</a:t>
            </a:r>
          </a:p>
          <a:p>
            <a:pPr algn="l">
              <a:spcAft>
                <a:spcPts val="1000"/>
              </a:spcAft>
            </a:pPr>
            <a:r>
              <a:rPr sz="2000" b="0" i="0" lang="en-US">
                <a:solidFill>
                  <a:srgbClr val="262626"/>
                </a:solidFill>
                <a:latin typeface="Calibri"/>
                <a:cs typeface="Calibri"/>
                <a:ea typeface="Calibri"/>
              </a:rPr>
              <a:t>• Integrating negative noise: 122.11 N·s</a:t>
            </a:r>
          </a:p>
          <a:p>
            <a:pPr algn="l">
              <a:spcAft>
                <a:spcPts val="1000"/>
              </a:spcAft>
            </a:pPr>
            <a:r>
              <a:rPr sz="2000" b="0" i="0" lang="en-US">
                <a:solidFill>
                  <a:srgbClr val="262626"/>
                </a:solidFill>
                <a:latin typeface="Calibri"/>
                <a:cs typeface="Calibri"/>
                <a:ea typeface="Calibri"/>
              </a:rPr>
              <a:t>• A convergence check on an even grid cannot see the spacing bug</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 thrust trace with the three gaps shaded and two shaded areas: the true impulse and the uniform-dt estimate.</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What the productivity studies say</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Peng et al. (2023, RCT, 95 people, one JS task): 55.8 % faster</a:t>
            </a:r>
          </a:p>
          <a:p>
            <a:pPr algn="l">
              <a:spcAft>
                <a:spcPts val="1000"/>
              </a:spcAft>
            </a:pPr>
            <a:r>
              <a:rPr sz="2000" b="0" i="0" lang="en-US">
                <a:solidFill>
                  <a:srgbClr val="262626"/>
                </a:solidFill>
                <a:latin typeface="Calibri"/>
                <a:cs typeface="Calibri"/>
                <a:ea typeface="Calibri"/>
              </a:rPr>
              <a:t>• METR (2025, RCT, 16 experienced devs, own repos): 19 % slower</a:t>
            </a:r>
          </a:p>
          <a:p>
            <a:pPr algn="l">
              <a:spcAft>
                <a:spcPts val="1000"/>
              </a:spcAft>
            </a:pPr>
            <a:r>
              <a:rPr sz="2000" b="0" i="0" lang="en-US">
                <a:solidFill>
                  <a:srgbClr val="262626"/>
                </a:solidFill>
                <a:latin typeface="Calibri"/>
                <a:cs typeface="Calibri"/>
                <a:ea typeface="Calibri"/>
              </a:rPr>
              <a:t>• Those developers expected −24 % and afterwards believed −20 %</a:t>
            </a:r>
          </a:p>
          <a:p>
            <a:pPr algn="l">
              <a:spcAft>
                <a:spcPts val="1000"/>
              </a:spcAft>
            </a:pPr>
            <a:r>
              <a:rPr sz="2000" b="0" i="0" lang="en-US">
                <a:solidFill>
                  <a:srgbClr val="262626"/>
                </a:solidFill>
                <a:latin typeface="Calibri"/>
                <a:cs typeface="Calibri"/>
                <a:ea typeface="Calibri"/>
              </a:rPr>
              <a:t>• METR update (Feb 2026): −18 % and −4 %, CIs include zero</a:t>
            </a:r>
          </a:p>
          <a:p>
            <a:pPr algn="l">
              <a:spcAft>
                <a:spcPts val="1000"/>
              </a:spcAft>
            </a:pPr>
            <a:r>
              <a:rPr sz="2000" b="0" i="0" lang="en-US">
                <a:solidFill>
                  <a:srgbClr val="262626"/>
                </a:solidFill>
                <a:latin typeface="Calibri"/>
                <a:cs typeface="Calibri"/>
                <a:ea typeface="Calibri"/>
              </a:rPr>
              <a:t>• The setting decides; self-reported speed-ups are not evidence</a:t>
            </a:r>
          </a:p>
        </p:txBody>
      </p:sp>
      <p:pic>
        <p:nvPicPr>
          <p:cNvPr id="5" name="Picture 4" descr="fig_evidence.png"/>
          <p:cNvPicPr>
            <a:picLocks noChangeAspect="1"/>
          </p:cNvPicPr>
          <p:nvPr/>
        </p:nvPicPr>
        <p:blipFill>
          <a:blip r:embed="rId2"/>
          <a:stretch>
            <a:fillRect/>
          </a:stretch>
        </p:blipFill>
        <p:spPr>
          <a:xfrm>
            <a:off x="6583680" y="1371600"/>
            <a:ext cx="5150815" cy="2273584"/>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What the security studies say</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Pearce et al. (2021): 89 scenarios, 1689 Copilot programs, ~40 % vulnerable</a:t>
            </a:r>
          </a:p>
          <a:p>
            <a:pPr algn="l">
              <a:spcAft>
                <a:spcPts val="1000"/>
              </a:spcAft>
            </a:pPr>
            <a:r>
              <a:rPr sz="2000" b="0" i="0" lang="en-US">
                <a:solidFill>
                  <a:srgbClr val="262626"/>
                </a:solidFill>
                <a:latin typeface="Calibri"/>
                <a:cs typeface="Calibri"/>
                <a:ea typeface="Calibri"/>
              </a:rPr>
              <a:t>• Perry et al. (ACM CCS 2023): assisted users wrote less secure code</a:t>
            </a:r>
          </a:p>
          <a:p>
            <a:pPr algn="l">
              <a:spcAft>
                <a:spcPts val="1000"/>
              </a:spcAft>
            </a:pPr>
            <a:r>
              <a:rPr sz="2000" b="0" i="0" lang="en-US">
                <a:solidFill>
                  <a:srgbClr val="262626"/>
                </a:solidFill>
                <a:latin typeface="Calibri"/>
                <a:cs typeface="Calibri"/>
                <a:ea typeface="Calibri"/>
              </a:rPr>
              <a:t>• ...and were more likely to believe it was secure</a:t>
            </a:r>
          </a:p>
          <a:p>
            <a:pPr algn="l">
              <a:spcAft>
                <a:spcPts val="1000"/>
              </a:spcAft>
            </a:pPr>
            <a:r>
              <a:rPr sz="2000" b="0" i="0" lang="en-US">
                <a:solidFill>
                  <a:srgbClr val="262626"/>
                </a:solidFill>
                <a:latin typeface="Calibri"/>
                <a:cs typeface="Calibri"/>
                <a:ea typeface="Calibri"/>
              </a:rPr>
              <a:t>• Veracode (vendor, Jul 2025): flaws in 45 % of tests (80 tasks, 100+ LLMs)</a:t>
            </a:r>
          </a:p>
          <a:p>
            <a:pPr algn="l">
              <a:spcAft>
                <a:spcPts val="1000"/>
              </a:spcAft>
            </a:pPr>
            <a:r>
              <a:rPr sz="2000" b="0" i="0" lang="en-US">
                <a:solidFill>
                  <a:srgbClr val="262626"/>
                </a:solidFill>
                <a:latin typeface="Calibri"/>
                <a:cs typeface="Calibri"/>
                <a:ea typeface="Calibri"/>
              </a:rPr>
              <a:t>• DORA 2024: 39 % of respondents have little or no trust in AI code</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Three cards (lab study, user study, vendor test) with the sample, the result and the type of evidence; the vendor card marked "not peer reviewed (not stated)".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6: checking a statistic like an AI answer</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Handbook: "a 2025 study found that 45% of AI-generated code contained security vulnerabilities"</a:t>
            </a:r>
          </a:p>
          <a:p>
            <a:pPr algn="l">
              <a:spcAft>
                <a:spcPts val="1000"/>
              </a:spcAft>
            </a:pPr>
            <a:r>
              <a:rPr sz="2000" b="0" i="0" lang="en-US">
                <a:solidFill>
                  <a:srgbClr val="262626"/>
                </a:solidFill>
                <a:latin typeface="Calibri"/>
                <a:cs typeface="Calibri"/>
                <a:ea typeface="Calibri"/>
              </a:rPr>
              <a:t>• No citation; the number matches the Veracode press release (vendor test)</a:t>
            </a:r>
          </a:p>
          <a:p>
            <a:pPr algn="l">
              <a:spcAft>
                <a:spcPts val="1000"/>
              </a:spcAft>
            </a:pPr>
            <a:r>
              <a:rPr sz="2000" b="0" i="0" lang="en-US">
                <a:solidFill>
                  <a:srgbClr val="262626"/>
                </a:solidFill>
                <a:latin typeface="Calibri"/>
                <a:cs typeface="Calibri"/>
                <a:ea typeface="Calibri"/>
              </a:rPr>
              <a:t>• "170 critical vulnerabilities in 1,645 vibe-coded apps": only third-party posts</a:t>
            </a:r>
          </a:p>
          <a:p>
            <a:pPr algn="l">
              <a:spcAft>
                <a:spcPts val="1000"/>
              </a:spcAft>
            </a:pPr>
            <a:r>
              <a:rPr sz="2000" b="0" i="0" lang="en-US">
                <a:solidFill>
                  <a:srgbClr val="262626"/>
                </a:solidFill>
                <a:latin typeface="Calibri"/>
                <a:cs typeface="Calibri"/>
                <a:ea typeface="Calibri"/>
              </a:rPr>
              <a:t>• The CVE-2025-48757 record itself does not give these counts</a:t>
            </a:r>
          </a:p>
          <a:p>
            <a:pPr algn="l">
              <a:spcAft>
                <a:spcPts val="1000"/>
              </a:spcAft>
            </a:pPr>
            <a:r>
              <a:rPr sz="2000" b="0" i="0" lang="en-US">
                <a:solidFill>
                  <a:srgbClr val="262626"/>
                </a:solidFill>
                <a:latin typeface="Calibri"/>
                <a:cs typeface="Calibri"/>
                <a:ea typeface="Calibri"/>
              </a:rPr>
              <a:t>• "63 % non-developers", "$4.7 billion": no source found, not used</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A three-step funnel: claim → original source? → type of evidence, with three claims dropping out at different levels.</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A working method: one small loop per piece</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Delegate small, well-defined tasks with checkable criteria</a:t>
            </a:r>
          </a:p>
          <a:p>
            <a:pPr algn="l">
              <a:spcAft>
                <a:spcPts val="1000"/>
              </a:spcAft>
            </a:pPr>
            <a:r>
              <a:rPr sz="2000" b="0" i="0" lang="en-US">
                <a:solidFill>
                  <a:srgbClr val="262626"/>
                </a:solidFill>
                <a:latin typeface="Calibri"/>
                <a:cs typeface="Calibri"/>
                <a:ea typeface="Calibri"/>
              </a:rPr>
              <a:t>• Supervise more when the task is novel, complex or safety-relevant</a:t>
            </a:r>
          </a:p>
          <a:p>
            <a:pPr algn="l">
              <a:spcAft>
                <a:spcPts val="1000"/>
              </a:spcAft>
            </a:pPr>
            <a:r>
              <a:rPr sz="2000" b="0" i="0" lang="en-US">
                <a:solidFill>
                  <a:srgbClr val="262626"/>
                </a:solidFill>
                <a:latin typeface="Calibri"/>
                <a:cs typeface="Calibri"/>
                <a:ea typeface="Calibri"/>
              </a:rPr>
              <a:t>• Guardrails: no test edits, no data, no hardware commands</a:t>
            </a:r>
          </a:p>
          <a:p>
            <a:pPr algn="l">
              <a:spcAft>
                <a:spcPts val="1000"/>
              </a:spcAft>
            </a:pPr>
            <a:r>
              <a:rPr sz="2000" b="0" i="0" lang="en-US">
                <a:solidFill>
                  <a:srgbClr val="262626"/>
                </a:solidFill>
                <a:latin typeface="Calibri"/>
                <a:cs typeface="Calibri"/>
                <a:ea typeface="Calibri"/>
              </a:rPr>
              <a:t>• Check after every step; commit to Git before each agent change</a:t>
            </a:r>
          </a:p>
          <a:p>
            <a:pPr algn="l">
              <a:spcAft>
                <a:spcPts val="1000"/>
              </a:spcAft>
            </a:pPr>
            <a:r>
              <a:rPr sz="2000" b="0" i="0" lang="en-US">
                <a:solidFill>
                  <a:srgbClr val="262626"/>
                </a:solidFill>
                <a:latin typeface="Calibri"/>
                <a:cs typeface="Calibri"/>
                <a:ea typeface="Calibri"/>
              </a:rPr>
              <a:t>• Keep a project file: units, conventions, pinned versions</a:t>
            </a:r>
          </a:p>
        </p:txBody>
      </p:sp>
      <p:pic>
        <p:nvPicPr>
          <p:cNvPr id="5" name="Picture 4" descr="fig_loop.png"/>
          <p:cNvPicPr>
            <a:picLocks noChangeAspect="1"/>
          </p:cNvPicPr>
          <p:nvPr/>
        </p:nvPicPr>
        <p:blipFill>
          <a:blip r:embed="rId2"/>
          <a:stretch>
            <a:fillRect/>
          </a:stretch>
        </p:blipFill>
        <p:spPr>
          <a:xfrm>
            <a:off x="6583680" y="1371600"/>
            <a:ext cx="5150815" cy="1657869"/>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A prompt that makes the answer checkable, and the safety rules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State inputs and outputs with units, ranges, conventions, environment</a:t>
            </a:r>
          </a:p>
          <a:p>
            <a:pPr algn="l">
              <a:spcAft>
                <a:spcPts val="1000"/>
              </a:spcAft>
            </a:pPr>
            <a:r>
              <a:rPr sz="2000" b="0" i="0" lang="en-US">
                <a:solidFill>
                  <a:srgbClr val="262626"/>
                </a:solidFill>
                <a:latin typeface="Calibri"/>
                <a:cs typeface="Calibri"/>
                <a:ea typeface="Calibri"/>
              </a:rPr>
              <a:t>• Give two or three reference values with their source</a:t>
            </a:r>
          </a:p>
          <a:p>
            <a:pPr algn="l">
              <a:spcAft>
                <a:spcPts val="1000"/>
              </a:spcAft>
            </a:pPr>
            <a:r>
              <a:rPr sz="2000" b="0" i="0" lang="en-US">
                <a:solidFill>
                  <a:srgbClr val="262626"/>
                </a:solidFill>
                <a:latin typeface="Calibri"/>
                <a:cs typeface="Calibri"/>
                <a:ea typeface="Calibri"/>
              </a:rPr>
              <a:t>• Ask for assumptions and edge cases first, then code, then tests</a:t>
            </a:r>
          </a:p>
          <a:p>
            <a:pPr algn="l">
              <a:spcAft>
                <a:spcPts val="1000"/>
              </a:spcAft>
            </a:pPr>
            <a:r>
              <a:rPr sz="2000" b="0" i="0" lang="en-US">
                <a:solidFill>
                  <a:srgbClr val="262626"/>
                </a:solidFill>
                <a:latin typeface="Calibri"/>
                <a:cs typeface="Calibri"/>
                <a:ea typeface="Calibri"/>
              </a:rPr>
              <a:t>• Never paste data or code not cleared for external services</a:t>
            </a:r>
          </a:p>
          <a:p>
            <a:pPr algn="l">
              <a:spcAft>
                <a:spcPts val="1000"/>
              </a:spcAft>
            </a:pPr>
            <a:r>
              <a:rPr sz="2000" b="0" i="0" lang="en-US">
                <a:solidFill>
                  <a:srgbClr val="262626"/>
                </a:solidFill>
                <a:latin typeface="Calibri"/>
                <a:cs typeface="Calibri"/>
                <a:ea typeface="Calibri"/>
              </a:rPr>
              <a:t>• Install nothing until the package and its publisher are checked</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The prompt template from lab Section 10 as a text block, with the units, reference-value and "do not modify tests" lines highlighted.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This week's work</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Lab: notebooks/week_extra_vibe_coding (5 exercises, about 2 h)</a:t>
            </a:r>
          </a:p>
          <a:p>
            <a:pPr algn="l">
              <a:spcAft>
                <a:spcPts val="1000"/>
              </a:spcAft>
            </a:pPr>
            <a:r>
              <a:rPr sz="2000" b="0" i="0" lang="en-US">
                <a:solidFill>
                  <a:srgbClr val="262626"/>
                </a:solidFill>
                <a:latin typeface="Calibri"/>
                <a:cs typeface="Calibri"/>
                <a:ea typeface="Calibri"/>
              </a:rPr>
              <a:t>• In class: 4 problems (B's exponent, pass@k, observed order, a test-weakening diff)</a:t>
            </a:r>
          </a:p>
          <a:p>
            <a:pPr algn="l">
              <a:spcAft>
                <a:spcPts val="1000"/>
              </a:spcAft>
            </a:pPr>
            <a:r>
              <a:rPr sz="2000" b="0" i="0" lang="en-US">
                <a:solidFill>
                  <a:srgbClr val="262626"/>
                </a:solidFill>
                <a:latin typeface="Calibri"/>
                <a:cs typeface="Calibri"/>
                <a:ea typeface="Calibri"/>
              </a:rPr>
              <a:t>• Practice Assignment VC (formative, about 4 h): vibe-code it, then prove it</a:t>
            </a:r>
          </a:p>
          <a:p>
            <a:pPr algn="l">
              <a:spcAft>
                <a:spcPts val="1000"/>
              </a:spcAft>
            </a:pPr>
            <a:r>
              <a:rPr sz="2000" b="0" i="0" lang="en-US">
                <a:solidFill>
                  <a:srgbClr val="262626"/>
                </a:solidFill>
                <a:latin typeface="Calibri"/>
                <a:cs typeface="Calibri"/>
                <a:ea typeface="Calibri"/>
              </a:rPr>
              <a:t>• Evidence files: prompt log, raw AI answer, REVIEW.md, your mutants</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Three icons: notebook, pencil, Git branch.</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What We Now Know How To Do</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Tell vibe coding from AI-assisted engineering, and own the result</a:t>
            </a:r>
          </a:p>
          <a:p>
            <a:pPr algn="l">
              <a:spcAft>
                <a:spcPts val="1000"/>
              </a:spcAft>
            </a:pPr>
            <a:r>
              <a:rPr sz="2000" b="0" i="0" lang="en-US">
                <a:solidFill>
                  <a:srgbClr val="262626"/>
                </a:solidFill>
                <a:latin typeface="Calibri"/>
                <a:cs typeface="Calibri"/>
                <a:ea typeface="Calibri"/>
              </a:rPr>
              <a:t>• Verify AI code with reference values, properties and differential tests</a:t>
            </a:r>
          </a:p>
          <a:p>
            <a:pPr algn="l">
              <a:spcAft>
                <a:spcPts val="1000"/>
              </a:spcAft>
            </a:pPr>
            <a:r>
              <a:rPr sz="2000" b="0" i="0" lang="en-US">
                <a:solidFill>
                  <a:srgbClr val="262626"/>
                </a:solidFill>
                <a:latin typeface="Calibri"/>
                <a:cs typeface="Calibri"/>
                <a:ea typeface="Calibri"/>
              </a:rPr>
              <a:t>• Measure the observed order of accuracy of numerical code</a:t>
            </a:r>
          </a:p>
          <a:p>
            <a:pPr algn="l">
              <a:spcAft>
                <a:spcPts val="1000"/>
              </a:spcAft>
            </a:pPr>
            <a:r>
              <a:rPr sz="2000" b="0" i="0" lang="en-US">
                <a:solidFill>
                  <a:srgbClr val="262626"/>
                </a:solidFill>
                <a:latin typeface="Calibri"/>
                <a:cs typeface="Calibri"/>
                <a:ea typeface="Calibri"/>
              </a:rPr>
              <a:t>• Judge a test suite by its mutation score; notice weakened tests</a:t>
            </a:r>
          </a:p>
          <a:p>
            <a:pPr algn="l">
              <a:spcAft>
                <a:spcPts val="1000"/>
              </a:spcAft>
            </a:pPr>
            <a:r>
              <a:rPr sz="2000" b="0" i="0" lang="en-US">
                <a:solidFill>
                  <a:srgbClr val="262626"/>
                </a:solidFill>
                <a:latin typeface="Calibri"/>
                <a:cs typeface="Calibri"/>
                <a:ea typeface="Calibri"/>
              </a:rPr>
              <a:t>• Run static checks and read AI studies and statistics critically</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The opener's four candidates with only A ticked, and the five-check matrix beside it.</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Bonus week | Vibe coding in engineering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