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file, not with Python. Ask the room how they would answer Q2 with Excel. Keep the four questions on the board all session; every tool we introduce answers one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with weak programming backgrounds need to see that each tool exists for a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accel_z ≈ 9.81 on the ground: the accelerometer measures specific force, so it reads +1 g when parked.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GeeksforGeeks "Python Virtual Environment" and "Set up virtual environment for Python using Anaconda" (rewritten).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live; have students type along. Git basics follow W3Schools "Git Introduction" (repository, staging, commit, branch, push/pull).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10-minute hands-on. Anyone who fails here gets help now, not in Week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Rewritten from W3Schools "Introduction to NumPy". The timing cell in the notebook shows the speed-up on 200 000 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In-class Problem 4 drills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it on the board first, then run the cell. This is a classic silent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Anderson, Introduction to Flight, Ch. 6 (turning flight).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Rewritten from W3Schools "Pandas Read CSV" / "Analyzing DataFrames" and GeeksforGeeks "DataFrame describe()".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the vectorised version: np.linalg.norm(samples, axis=1) / G0.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to Q1 goes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first data-cleaning decision of the course; Week 5 generalises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compute both on paper before you reveal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fig_gyro_noise.png as a backup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Rewritten from W3Schools "Matplotlib Pyplot".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Motivates smoothing; the same reasoning returns in Week 12 (trajectory velocity).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Code: src/aerospace_ai/utils.py. Instructor: read it before Week 2; it previews several OOP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Assignment 0 has hidden tests; the public tests show the expected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returning to the opener: every question now has a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194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 lang="en-US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Week 1: Python and Environment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0" lang="en-US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From a raw flight log to engineering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AI for Aerospace &amp; Mechanical Engineering (PhD)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New content. Python tooling rewritten from W3Schools (Python, NumPy, Pandas, Matplotlib, Git tutorials) and GeeksforGeeks (virtual environments, Anaconda, Jupyter, describe()); load factor adapted from Anderson, Introduction to Flight, Ch. 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A flight log lands on your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5-minute UAV test flight, IMU at 50 Hz + baro, pitot, temperature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Q1: What was the sample rate? Did the logger lose data?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Q2: Peak load factor? Was the 2.0 g limit exceeded?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Q3: How noisy are the gyros while parked?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Q4: What was the peak climb rate?</a:t>
            </a:r>
          </a:p>
        </p:txBody>
      </p:sp>
      <p:pic>
        <p:nvPicPr>
          <p:cNvPr id="5" name="Picture 4" descr="fig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39963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Today: problem → tools →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Reproducible environment: conda / venv, Jupyter, Git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NumPy: vectorised maths on arrays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Pandas: labelled tables, read_csv, describe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Matplotlib: figures that answer questions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Preview: the same logic as a reusable class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Left-to-right chain of five boxes: "CSV file" → "Environment" → "NumPy" → "Pandas" → "Matplotlib" → "Answers Q1–Q4".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0: what the raw file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time_s, accel_x/y/z [m/s²], gyro_x/y/z [deg/s]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baro_alt_m, airspeed_mps, temp_c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14 940 rows × 10 columns, ~1 MB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Units live in the column names: a convention, not luck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Code block of the first three CSV lines: time_s,accel_x_mps2,...,temp_c / 0.0,-0.052,0.0375,9.8537,... / 0.02,0.0389,0.0033,9.863,...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Why an isolated environment?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"Works on my machine" is not a result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One environment per project, pinned versions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conda: Python + compiled libraries (PyTorch later)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venv + pip: built-in, lightweight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environment.yml / requirements.txt = the recipe</a:t>
            </a:r>
          </a:p>
        </p:txBody>
      </p:sp>
      <p:pic>
        <p:nvPicPr>
          <p:cNvPr id="5" name="Picture 4" descr="fig_environment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26425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The commands you need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conda create -n aero-ai python=3.11 → conda activate aero-ai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python -m venv .venv → activate → pip install -r requirements.txt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jupyter lab (run cells: Shift+Enter; restart &amp; run all)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git clone / switch -c / add / commit / push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git status before every commit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Two-column cheat sheet: left "conda / venv / jupyter", right "git". Highlight git status.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Example: first environment and first 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conda env create -f environment.yml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jupyter lab → open notebooks/week01/week01_python_env.ipynb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Run the version-check cell: all "ok"?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git switch -c week01-yourname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git add, commit -m "Week 1: environment ok", push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Screenshot placeholder of the version-check cell output with four "ok" 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NumPy: arrays, shape, axis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ndarray: one block of numbers, one dtype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accel.shape = (N, 3): rows = samples, columns = x, y, z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axis=0 collapses samples; axis=1 collapses components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Vectorised: np.sqrt(np.sum(a**2, axis=1)) → ~10× faster than a loop</a:t>
            </a:r>
          </a:p>
        </p:txBody>
      </p:sp>
      <p:pic>
        <p:nvPicPr>
          <p:cNvPr id="5" name="Picture 4" descr="fig_axis_broadca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23228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Broadcasting and boolean masks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(4, 3) − (3,) → (4, 3): trailing dimensions align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Remove per-axis IMU bias: a − a.mean(axis=0)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Mask: on_ground = t &lt; 25 → df.loc[on_ground]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Masks replace if-statements inside loops</a:t>
            </a:r>
          </a:p>
        </p:txBody>
      </p:sp>
      <p:pic>
        <p:nvPicPr>
          <p:cNvPr id="5" name="Picture 4" descr="fig_axis_broadca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23228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1: noise statistics by hand (ddof)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x = [0.2, −0.4, 0.1, 0.5, −0.4] deg/s → mean = 0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Σ(x − x̄)² = 0.62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Population σ = √(0.62/5) = 0.352 (np.std default)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Sample s = √(0.62/4) = 0.394 (pandas .std default)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Always write ddof explicitly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Two-row table: "divide by N → 0.352 (NumPy)", "divide by N−1 → 0.394 (Pandas)", with the 12 % difference highlighted.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Load factor from an accelerometer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Accelerometer measures specific force f (not gravity)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n = ‖f‖ / g₀, with g₀ = 9.80665 m/s²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Level coordinated turn: n = 1 / cos φ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30° bank → 1.155 g; 60° bank → 2.0 g</a:t>
            </a:r>
          </a:p>
        </p:txBody>
      </p:sp>
      <p:pic>
        <p:nvPicPr>
          <p:cNvPr id="5" name="Picture 4" descr="fig_banked_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418" y="1371600"/>
            <a:ext cx="4729339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Pandas: first look at any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df = pd.read_csv(path)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df.head(): does it look right?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df.info(): dtypes and non-null counts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df.describe().T: count, mean, std, min, quartiles, max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Read count and max like an engineer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describe() table with two cells circled: count = 14 865 for baro_alt_m (missing data) and max = 50.3 m/s² for accel_z (≈ 5 g?).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2: load factor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 = (1.2, −0.4, 19.6) m/s²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‖f‖² = 1.44 + 0.16 + 384.16 = 385.76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‖f‖ = 19.641 m/s² → n = 19.641 / 9.80665 = 2.003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One sample above 2.0 g. Real exceedance or not?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3-D vector arrow with its three components and the norm labelled.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Q1: sample rate and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dt = t.diff(); fs = 1 / median(dt) = 50 Hz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Median, not mean: one gap ruins the mean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Nyquist = fs / 2 = 25 Hz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Gap: dt &gt; 1.5 × nominal → 1.22 s step = 60 missing samples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0.5 % NaN in baro and airspeed</a:t>
            </a:r>
          </a:p>
        </p:txBody>
      </p:sp>
      <p:pic>
        <p:nvPicPr>
          <p:cNvPr id="5" name="Picture 4" descr="fig_gap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1228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Q2: spike or manoeuvre?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Raw peak: 5.13 g at t = 66.68 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Neighbours: 1.06, 1.06, 5.13, 1.06, 1.06 → one sample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Real manoeuvres last seconds (hundreds of samples)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Rolling median (5 samples) removes spikes, keeps manoeuvres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Filtered peak 1.80 g at 192 s → limit not exceeded</a:t>
            </a:r>
          </a:p>
        </p:txBody>
      </p:sp>
      <p:pic>
        <p:nvPicPr>
          <p:cNvPr id="5" name="Picture 4" descr="fig_spike_vs_maneu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17111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3: mean vs median, and a gap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Window [1.00, 1.01, 5.10, 0.99, 1.00]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Mean = 9.10 / 5 = 1.82 g (spike leaks in)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Median = sort → [0.99, 1.00, 1.00, 1.01, 5.10] → 1.00 g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Timestamps 99.94, 99.96, 99.98, 101.20 → 1.22 / 0.02 − 1 = 60 lost</a:t>
            </a:r>
          </a:p>
        </p:txBody>
      </p:sp>
      <p:pic>
        <p:nvPicPr>
          <p:cNvPr id="5" name="Picture 4" descr="fig_mean_vs_me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12115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Q3 and Q4: noise and derivatives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Parked (t &lt; 25 s): gyro s ≈ 0.30 deg/s, bias ≈ 0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Histogram ≈ Gaussian → white noise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Differentiating noise amplifies it: ±28 m/s raw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Smooth (2 s) first, then differentiate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Peak climb ≈ 16 m/s at 84 s (design 15 m/s)</a:t>
            </a:r>
          </a:p>
        </p:txBody>
      </p:sp>
      <p:pic>
        <p:nvPicPr>
          <p:cNvPr id="5" name="Picture 4" descr="fig_climb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17877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Matplotlib: figures that answer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fig, axes = plt.subplots(4, 1, sharex=True)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One question per panel; units on every axis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Reference lines: ax.axhline(2.0, ls="--")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Shade gaps: ax.axvspan(start, end)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Return the Figure from functions; show it outside</a:t>
            </a:r>
          </a:p>
        </p:txBody>
      </p:sp>
      <p:pic>
        <p:nvPicPr>
          <p:cNvPr id="5" name="Picture 4" descr="fig_gyro_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15049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4: a derivative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h = [250.0, 250.3, 250.5] m at t = [80.00, 80.02, 80.04] 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Central difference: (250.5 − 250.0) / 0.04 = 12.5 m/s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Baro noise σ = 0.8 m → difference noise √2 · 0.8 = 1.13 m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1.13 m / 0.04 s ≈ ±28 m/s noise on a 15 m/s signal</a:t>
            </a:r>
          </a:p>
        </p:txBody>
      </p:sp>
      <p:pic>
        <p:nvPicPr>
          <p:cNvPr id="5" name="Picture 4" descr="fig_central_dif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33969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From notebook to class: FlightLog (preview)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FlightLog.from_csv(path): @classmethod constructor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log.sample_rate_hz: @property, computed on access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__slots__, __repr__, type hints, docstrings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Same answers as the notebook in five lines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Week 2: Sensor hierarchy (IMU / LiDAR / GPS)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UML box "FlightLog" with attributes (source) and methods (time_gaps, load_factor, robust_load_factor, climb_rate, segment, plot_overview).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This week's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Lab: notebooks/week01/week01_python_env.ipynb (7 TODO exercises)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In class: 4 warm-ups (ddof, bank angle, gaps, NumPy shapes)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Assignment 0: flight-log quality check, 3–4 h, due Week 2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Push your branch; Restart &amp; Run All before submitting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Three icons: notebook, pencil, Git branch.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What We Now Know How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Build and activate a pinned environment; version-control a notebook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Load a sensor CSV and read describe() like an engineer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Find the true sample rate, gaps and missing values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Separate sensor spikes from real manoeuvres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Estimate noise and derivatives from noisy data, and plot the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The four questions Q1–Q4 from slide 1, each with a green check mark and its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01 | Python &amp; environment review   |  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